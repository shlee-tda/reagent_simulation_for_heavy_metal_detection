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Cr - &gt; Co</a:t>
            </a:r>
            <a:r>
              <a:rPr lang="ko-KR" altLang="en-US" dirty="0"/>
              <a:t> </a:t>
            </a:r>
            <a:r>
              <a:rPr lang="ko-KR" altLang="en-US" dirty="0" err="1"/>
              <a:t>를</a:t>
            </a:r>
            <a:r>
              <a:rPr lang="ko-KR" altLang="en-US" dirty="0"/>
              <a:t> 한 이유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Co</a:t>
            </a:r>
            <a:r>
              <a:rPr lang="ko-KR" altLang="en-US" dirty="0"/>
              <a:t>가 </a:t>
            </a:r>
            <a:r>
              <a:rPr lang="en-US" altLang="ko-KR" dirty="0"/>
              <a:t>toxic</a:t>
            </a:r>
            <a:r>
              <a:rPr lang="ko-KR" altLang="en-US" dirty="0"/>
              <a:t>한가</a:t>
            </a:r>
            <a:r>
              <a:rPr lang="en-US" altLang="ko-KR" dirty="0"/>
              <a:t>?</a:t>
            </a:r>
            <a:r>
              <a:rPr lang="ko-KR" altLang="en-US" dirty="0"/>
              <a:t> 김과제의 연장선이라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Exp 1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가 합쳐져야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Exp 1</a:t>
            </a:r>
            <a:r>
              <a:rPr lang="ko-KR" altLang="en-US" dirty="0"/>
              <a:t>은 아민 기반의 </a:t>
            </a:r>
            <a:r>
              <a:rPr lang="en-US" altLang="ko-KR" dirty="0"/>
              <a:t>binder</a:t>
            </a:r>
          </a:p>
          <a:p>
            <a:r>
              <a:rPr lang="en-US" dirty="0"/>
              <a:t>- Exp 2</a:t>
            </a:r>
            <a:r>
              <a:rPr lang="ko-KR" altLang="en-US" dirty="0"/>
              <a:t>는 금속이 </a:t>
            </a:r>
            <a:r>
              <a:rPr lang="en-US" altLang="ko-KR" dirty="0" err="1"/>
              <a:t>GalAcid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학습 </a:t>
            </a:r>
            <a:r>
              <a:rPr lang="ko-KR" altLang="en-US" dirty="0" err="1"/>
              <a:t>해야할</a:t>
            </a:r>
            <a:r>
              <a:rPr lang="ko-KR" altLang="en-US" dirty="0"/>
              <a:t> 것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Alg</a:t>
            </a:r>
            <a:r>
              <a:rPr lang="en-US" altLang="ko-KR" dirty="0"/>
              <a:t>, Tan, Gal</a:t>
            </a:r>
            <a:r>
              <a:rPr lang="ko-KR" altLang="en-US" dirty="0"/>
              <a:t>은 </a:t>
            </a:r>
            <a:r>
              <a:rPr lang="en-US" altLang="ko-KR" dirty="0"/>
              <a:t>stability</a:t>
            </a:r>
            <a:r>
              <a:rPr lang="ko-KR" altLang="en-US" dirty="0"/>
              <a:t>가 훨씬 높기 때문에 훨씬 </a:t>
            </a:r>
            <a:r>
              <a:rPr lang="en-US" altLang="ko-KR" dirty="0" err="1"/>
              <a:t>binindg</a:t>
            </a:r>
            <a:r>
              <a:rPr lang="ko-KR" altLang="en-US" dirty="0"/>
              <a:t>을 높게 할 것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Exp 1</a:t>
            </a:r>
            <a:r>
              <a:rPr lang="ko-KR" altLang="en-US" dirty="0"/>
              <a:t> 조합과 비교군이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label</a:t>
            </a:r>
            <a:r>
              <a:rPr lang="ko-KR" altLang="en-US" dirty="0"/>
              <a:t>이 </a:t>
            </a:r>
            <a:r>
              <a:rPr lang="en-US" altLang="ko-KR" dirty="0"/>
              <a:t>As, Cd, Co, Cr</a:t>
            </a:r>
            <a:r>
              <a:rPr lang="ko-KR" altLang="en-US" dirty="0"/>
              <a:t>로 같아야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Cr</a:t>
            </a:r>
            <a:r>
              <a:rPr lang="ko-KR" altLang="en-US" dirty="0"/>
              <a:t>은 두 가지가 있다고 </a:t>
            </a:r>
            <a:r>
              <a:rPr lang="en-US" altLang="ko-KR" dirty="0"/>
              <a:t>...</a:t>
            </a:r>
            <a:r>
              <a:rPr lang="ko-KR" altLang="en-US" dirty="0"/>
              <a:t>  나눠서 해야 함</a:t>
            </a:r>
            <a:r>
              <a:rPr lang="en-US" altLang="ko-KR" dirty="0"/>
              <a:t>.</a:t>
            </a:r>
            <a:r>
              <a:rPr lang="ko-KR" altLang="en-US" dirty="0"/>
              <a:t> 그러면 총 </a:t>
            </a:r>
            <a:r>
              <a:rPr lang="en-US" altLang="ko-KR" dirty="0"/>
              <a:t>5</a:t>
            </a:r>
            <a:r>
              <a:rPr lang="ko-KR" altLang="en-US" dirty="0"/>
              <a:t>개 </a:t>
            </a:r>
            <a:r>
              <a:rPr lang="en-US" altLang="ko-KR" dirty="0"/>
              <a:t>label</a:t>
            </a:r>
            <a:r>
              <a:rPr lang="ko-KR" altLang="en-US" dirty="0"/>
              <a:t>이 나옴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어떤 원소의 성질이 달라서 화합할 확률이 엄청 커진다고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Exp 2</a:t>
            </a:r>
            <a:r>
              <a:rPr lang="ko-KR" altLang="en-US" dirty="0"/>
              <a:t>에서 결과가 나오지 </a:t>
            </a:r>
            <a:r>
              <a:rPr lang="ko-KR" altLang="en-US" dirty="0" err="1"/>
              <a:t>않는게</a:t>
            </a:r>
            <a:r>
              <a:rPr lang="ko-KR" altLang="en-US" dirty="0"/>
              <a:t> 오히려 너무 강하게 </a:t>
            </a:r>
            <a:r>
              <a:rPr lang="en-US" altLang="ko-KR" dirty="0"/>
              <a:t>binding</a:t>
            </a:r>
            <a:r>
              <a:rPr lang="ko-KR" altLang="en-US" dirty="0" err="1"/>
              <a:t>하다보니까</a:t>
            </a:r>
            <a:r>
              <a:rPr lang="ko-KR" altLang="en-US" dirty="0"/>
              <a:t> 오히려 차이를 못 보고 있을 수 있겠다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Alg</a:t>
            </a:r>
            <a:r>
              <a:rPr lang="en-US" altLang="ko-KR" dirty="0"/>
              <a:t>, Tan, Gal</a:t>
            </a:r>
            <a:r>
              <a:rPr lang="ko-KR" altLang="en-US" dirty="0"/>
              <a:t> 각 </a:t>
            </a:r>
            <a:r>
              <a:rPr lang="en-US" altLang="ko-KR" dirty="0"/>
              <a:t>profile </a:t>
            </a:r>
            <a:r>
              <a:rPr lang="ko-KR" altLang="en-US" dirty="0"/>
              <a:t>한 개씩 해보고 </a:t>
            </a:r>
            <a:r>
              <a:rPr lang="en-US" altLang="ko-KR" dirty="0"/>
              <a:t>classification </a:t>
            </a:r>
          </a:p>
          <a:p>
            <a:endParaRPr lang="en-US" altLang="ko-KR" dirty="0"/>
          </a:p>
          <a:p>
            <a:r>
              <a:rPr lang="ko-KR" altLang="en-US" dirty="0"/>
              <a:t>검증</a:t>
            </a:r>
            <a:endParaRPr lang="en-US" altLang="ko-KR" dirty="0"/>
          </a:p>
          <a:p>
            <a:r>
              <a:rPr lang="ko-KR" altLang="en-US" dirty="0"/>
              <a:t>이상한 결과 </a:t>
            </a:r>
            <a:r>
              <a:rPr lang="ko-KR" altLang="en-US" dirty="0" err="1"/>
              <a:t>나오는게</a:t>
            </a:r>
            <a:r>
              <a:rPr lang="ko-KR" altLang="en-US" dirty="0"/>
              <a:t> 어떤 원인인지 파악하는 것이 내 </a:t>
            </a:r>
            <a:r>
              <a:rPr lang="en-US" altLang="ko-KR" dirty="0"/>
              <a:t>work.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 err="1"/>
              <a:t>Alg</a:t>
            </a:r>
            <a:r>
              <a:rPr lang="en-US" altLang="ko-KR" dirty="0"/>
              <a:t>, Tan, Gal</a:t>
            </a:r>
            <a:r>
              <a:rPr lang="ko-KR" altLang="en-US" dirty="0"/>
              <a:t> 하나씩 입력으로 </a:t>
            </a:r>
            <a:r>
              <a:rPr lang="en-US" altLang="ko-KR" dirty="0" err="1"/>
              <a:t>abalation</a:t>
            </a:r>
            <a:r>
              <a:rPr lang="en-US" altLang="ko-KR" dirty="0"/>
              <a:t> </a:t>
            </a:r>
            <a:r>
              <a:rPr lang="ko-KR" altLang="en-US" dirty="0"/>
              <a:t>해서 </a:t>
            </a:r>
            <a:r>
              <a:rPr lang="en-US" altLang="ko-KR" dirty="0"/>
              <a:t>task </a:t>
            </a:r>
            <a:r>
              <a:rPr lang="ko-KR" altLang="en-US" dirty="0"/>
              <a:t>수행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이 경우 </a:t>
            </a:r>
            <a:r>
              <a:rPr lang="en-US" altLang="ko-KR" dirty="0" err="1"/>
              <a:t>not_added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r>
              <a:rPr lang="ko-KR" altLang="en-US" dirty="0"/>
              <a:t>로 꼭 넣을 것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Experiment 2</a:t>
            </a:r>
            <a:r>
              <a:rPr lang="ko-KR" altLang="en-US" dirty="0"/>
              <a:t>에는 잠깐 무시할 것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Chi, Lys</a:t>
            </a:r>
            <a:r>
              <a:rPr lang="ko-KR" altLang="en-US" dirty="0"/>
              <a:t> 위주로 수행할 것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 여기에 </a:t>
            </a:r>
            <a:r>
              <a:rPr lang="en-US" altLang="ko-KR" dirty="0"/>
              <a:t>particle </a:t>
            </a:r>
            <a:r>
              <a:rPr lang="ko-KR" altLang="en-US" dirty="0"/>
              <a:t>추가해서 할 것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?</a:t>
            </a:r>
            <a:r>
              <a:rPr lang="ko-KR" altLang="en-US" dirty="0"/>
              <a:t> 실제 </a:t>
            </a:r>
            <a:r>
              <a:rPr lang="en-US" altLang="ko-KR" dirty="0"/>
              <a:t>target</a:t>
            </a:r>
            <a:r>
              <a:rPr lang="ko-KR" altLang="en-US" dirty="0"/>
              <a:t> 물질은</a:t>
            </a:r>
            <a:r>
              <a:rPr lang="en-US" altLang="ko-KR" dirty="0"/>
              <a:t> metal</a:t>
            </a:r>
            <a:r>
              <a:rPr lang="ko-KR" altLang="en-US" dirty="0"/>
              <a:t>이 오염된 </a:t>
            </a:r>
            <a:r>
              <a:rPr lang="en-US" altLang="ko-KR" dirty="0"/>
              <a:t>sea water.</a:t>
            </a:r>
          </a:p>
          <a:p>
            <a:r>
              <a:rPr lang="ko-KR" altLang="en-US" dirty="0"/>
              <a:t>담수도 생각 중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project</a:t>
            </a:r>
            <a:r>
              <a:rPr lang="ko-KR" altLang="en-US" dirty="0"/>
              <a:t>는 여기서 쪼개져야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학습은 다 해놓자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Exp 1</a:t>
            </a:r>
            <a:r>
              <a:rPr lang="ko-KR" altLang="en-US" dirty="0"/>
              <a:t>은 </a:t>
            </a:r>
            <a:r>
              <a:rPr lang="en-US" altLang="ko-KR" dirty="0"/>
              <a:t>Jiyun</a:t>
            </a:r>
          </a:p>
          <a:p>
            <a:r>
              <a:rPr lang="ko-KR" altLang="en-US" dirty="0"/>
              <a:t>논문을 위한 논리 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ICP </a:t>
            </a:r>
            <a:r>
              <a:rPr lang="ko-KR" altLang="en-US" dirty="0"/>
              <a:t>찍는 것이 느리기 때문에 값싼 </a:t>
            </a:r>
            <a:r>
              <a:rPr lang="en-US" altLang="ko-KR" dirty="0"/>
              <a:t>paper</a:t>
            </a:r>
            <a:r>
              <a:rPr lang="ko-KR" altLang="en-US" dirty="0"/>
              <a:t>와 </a:t>
            </a:r>
            <a:r>
              <a:rPr lang="en-US" altLang="ko-KR" dirty="0"/>
              <a:t>ML</a:t>
            </a:r>
            <a:r>
              <a:rPr lang="ko-KR" altLang="en-US" dirty="0"/>
              <a:t> 조합으로 빠르게 하면 좋겠다</a:t>
            </a:r>
            <a:r>
              <a:rPr lang="en-US" altLang="ko-KR" dirty="0"/>
              <a:t>.</a:t>
            </a:r>
          </a:p>
          <a:p>
            <a:r>
              <a:rPr lang="en-US" dirty="0" err="1"/>
              <a:t>apodable</a:t>
            </a:r>
            <a:r>
              <a:rPr lang="en-US" dirty="0"/>
              <a:t> tech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현장에 적용하기 좋은 기술</a:t>
            </a:r>
            <a:r>
              <a:rPr lang="en-US" altLang="ko-KR" dirty="0"/>
              <a:t>)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permutation test </a:t>
            </a:r>
            <a:r>
              <a:rPr lang="ko-KR" altLang="en-US" dirty="0"/>
              <a:t>등 인과관계 판단할 실험 추가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Classification </a:t>
            </a:r>
            <a:r>
              <a:rPr lang="ko-KR" altLang="en-US" dirty="0"/>
              <a:t>외에 </a:t>
            </a:r>
            <a:r>
              <a:rPr lang="en-US" altLang="ko-KR" dirty="0"/>
              <a:t>Detection</a:t>
            </a:r>
            <a:r>
              <a:rPr lang="ko-KR" altLang="en-US" dirty="0"/>
              <a:t>은 </a:t>
            </a:r>
            <a:r>
              <a:rPr lang="en-US" altLang="ko-KR" dirty="0"/>
              <a:t>...</a:t>
            </a:r>
          </a:p>
          <a:p>
            <a:endParaRPr lang="en-US" dirty="0"/>
          </a:p>
          <a:p>
            <a:r>
              <a:rPr lang="en-US" dirty="0"/>
              <a:t>river</a:t>
            </a:r>
            <a:r>
              <a:rPr lang="ko-KR" altLang="en-US" dirty="0"/>
              <a:t>는 </a:t>
            </a:r>
            <a:r>
              <a:rPr lang="en-US" altLang="ko-KR" dirty="0"/>
              <a:t>classification</a:t>
            </a:r>
            <a:r>
              <a:rPr lang="ko-KR" altLang="en-US" dirty="0" err="1"/>
              <a:t>으로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있는지 없는지 </a:t>
            </a:r>
            <a:r>
              <a:rPr lang="en-US" altLang="ko-KR" dirty="0"/>
              <a:t>-&gt;</a:t>
            </a:r>
            <a:r>
              <a:rPr lang="ko-KR" altLang="en-US" dirty="0"/>
              <a:t> 있는 것 만으로 </a:t>
            </a:r>
            <a:r>
              <a:rPr lang="en-US" altLang="ko-KR" dirty="0"/>
              <a:t>classification</a:t>
            </a:r>
            <a:endParaRPr lang="en-US" dirty="0"/>
          </a:p>
          <a:p>
            <a:r>
              <a:rPr lang="en-US" dirty="0"/>
              <a:t>(binary detection) </a:t>
            </a:r>
          </a:p>
          <a:p>
            <a:r>
              <a:rPr lang="ko-KR" altLang="en-US" dirty="0"/>
              <a:t>중금속 있는 쪽을 절반으로 줄여서</a:t>
            </a:r>
            <a:endParaRPr lang="en-US" altLang="ko-KR" dirty="0"/>
          </a:p>
          <a:p>
            <a:r>
              <a:rPr lang="en-US" altLang="ko-KR" dirty="0"/>
              <a:t>class imbalance </a:t>
            </a:r>
            <a:r>
              <a:rPr lang="ko-KR" altLang="en-US" dirty="0"/>
              <a:t>고려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8F850-CCAB-745A-7A38-4B67A99CD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B8D18A-4D2D-7782-732B-11C1155E3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91335-11FD-877B-A7B9-809E97A26B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97DE5B-BEBA-B8EC-79FE-4616A85386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43A28-3151-CD71-7A39-1D82436F19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CEEB6-DAE2-A2E8-8740-DDC8EF8A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B82AEA-B25A-EA3F-543F-06DBB559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68A0C1-1CA9-B78E-E880-A4DB05B612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825AF9-3128-983F-F9EF-1E0C343F398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31F8E7-3666-4AB0-E9FB-87F854ED5C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85F9A-105B-A876-668D-7E1E39BD3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0E8463-EFD2-7723-5C8D-80D9FA57A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440C44-C5A7-FD1F-68D1-4FD13083F3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862FC-4F66-DE86-4502-D59DBAB5C5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1984A0-A4E7-E91F-A2B2-171B642CB8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E62F0-9B15-4700-330D-DFF66ED6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0243F-F223-FFBC-2F54-A7D89D241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EADF67-33C2-2FC6-A744-0E9882B850D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C9BDD6-7C5F-1194-FF30-B986B7151D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29C77C-D72F-CE06-7BA2-3DFB246346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5914B0-280A-927B-D97C-59F3555012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3A5BE-4AC5-769D-47A8-9DD3E3CD1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5ACB8D-ADC7-A70F-AE2B-3E8239A60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251EA6-A771-F742-5F45-040A4660D2E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7A458C-104D-F945-068A-FD438C6A40D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E20518-FE27-87EF-79FA-4A5DA228E65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6717BC5-B153-348E-8E17-2D3E95C0DC3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B84D6E-1318-C564-7CB9-4981ECC8AF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9A204-710A-628D-36BF-1C85ACE9B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53009-8A60-5A7F-CA76-B11F18A0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46CFCC-54A6-F0DC-2C5D-055010EFEE3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5CF6B5-7FF2-EC32-08CE-806C9E07C1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2068E6-9C4E-8DB9-3B57-76AA32E7AB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F095763-4B75-A5DA-44F8-2F8DC07840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6EDEAD-6428-8E12-C8BA-6401B1B98B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1CACCD-114F-549E-32BC-210038F572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4C1FF2-015B-BE8F-526D-245FED59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D2FA2-4035-DD4E-0E23-346FB1D2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0C66C-8B34-9A1B-2E1E-3B0B9A811A8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8E35ED-006E-6C9F-3EE3-26E590E57B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13E2AE-9350-E5F5-E241-2DB2E7EB2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1EDD01-8641-1C7F-F1AA-EC1F48306F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F0D79-ECED-060A-C37D-7CFB1677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25DA35-C49D-0AB1-0D6F-E3AC8B25D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191A0E-4F3D-F987-9231-8CBF9F7542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0A006-A470-3EC5-102C-4B8927447A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57BDE0-8256-5C21-57F3-0BE2BA7076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6492A1-4447-19D9-0828-CFBB9190C1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9904EF-E6A7-4560-D25B-2F2F5B841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11CCFE-786C-31A7-C656-45277C290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424F2-D935-29C3-CAC9-10945E1525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EA9D1B-6358-BCFC-C130-1489D807CC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29D54-25B9-BE35-1A86-246F5E45B5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82412C-B075-6600-7352-BA075B073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7CFEB6-019B-FC72-FA3B-B7B96D11F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B25FD5-36D2-1F76-C63C-C16A205F43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1C55E7-60E1-27BD-128C-40A66DA2FD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0CA59A-C356-B8E5-028E-30A331958D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0D1D16-2D38-1440-AC57-E363300479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BEEB3D-8314-A56F-474B-097E9465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DD55D7-ABA6-6BC1-4D70-E059507AD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마스터 텍스트 스타일을 편집하려면 클릭</a:t>
            </a:r>
          </a:p>
          <a:p>
            <a:pPr lvl="1">
              <a:buNone/>
            </a:pPr>
            <a:r>
              <a:t>두 번째 수준</a:t>
            </a:r>
          </a:p>
          <a:p>
            <a:pPr lvl="2">
              <a:buNone/>
            </a:pPr>
            <a:r>
              <a:t>세 번째 수준</a:t>
            </a:r>
          </a:p>
          <a:p>
            <a:pPr lvl="3">
              <a:buNone/>
            </a:pPr>
            <a:r>
              <a:t>네 번째 수준</a:t>
            </a:r>
          </a:p>
          <a:p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2E930-BC7E-8BF4-3539-FD3D020D75A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B35B6-AEB4-0E46-9AE8-DD1193C29C15}" type="datetimeFigureOut">
              <a:t>2026. 9. 14.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201D06-EEC4-6358-8D9E-90C34B3CB93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A51EF0-CCB9-C0CE-85B7-C616CB1326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D1D16-2D38-1440-AC57-E3633004798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2C4B8-B5CD-1F91-1C38-384C9B7F0D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AIC 중금속 분류 점검</a:t>
            </a:r>
            <a:endParaRPr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D81E3F-24A8-9C9B-CC5B-20D70AAB80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2026091</a:t>
            </a:r>
            <a:r>
              <a:rPr lang="en-US" altLang="ko-KR" dirty="0"/>
              <a:t>4</a:t>
            </a:r>
            <a:endParaRPr dirty="0"/>
          </a:p>
          <a:p>
            <a:pPr algn="r">
              <a:buNone/>
            </a:pPr>
            <a:r>
              <a:rPr dirty="0" err="1"/>
              <a:t>SeongHeon</a:t>
            </a:r>
            <a:r>
              <a:rPr dirty="0"/>
              <a:t> Lee (POSTECH GSAI)</a:t>
            </a:r>
          </a:p>
        </p:txBody>
      </p:sp>
    </p:spTree>
    <p:extLst>
      <p:ext uri="{BB962C8B-B14F-4D97-AF65-F5344CB8AC3E}">
        <p14:creationId xmlns:p14="http://schemas.microsoft.com/office/powerpoint/2010/main" val="3759137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21DE7-9F59-5E06-5991-C16994D2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실험 코드 재구성</a:t>
            </a:r>
            <a:endParaRPr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7EB1A-7BF4-3A09-E2DD-030EAF4AC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57"/>
            <a:ext cx="4953000" cy="3810000"/>
          </a:xfrm>
        </p:spPr>
        <p:txBody>
          <a:bodyPr wrap="square" lIns="76200" tIns="57150" rIns="76200" bIns="57150" anchor="t">
            <a:normAutofit/>
          </a:bodyPr>
          <a:lstStyle/>
          <a:p>
            <a:pPr>
              <a:def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 Jupyter Notebook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처리, 모델 학습, 분석이 하나의 실행 흐름에 결합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실행 순서와 수동 파일 선택에 따라 결과가 달라질 수 있음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9387DC-EEAA-F304-B79F-0FD5FBDBB01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324600" y="1825657"/>
            <a:ext cx="4953000" cy="3810000"/>
          </a:xfrm>
        </p:spPr>
        <p:txBody>
          <a:bodyPr wrap="square" lIns="76200" tIns="57150" rIns="76200" bIns="57150" anchor="t">
            <a:normAutofit/>
          </a:bodyPr>
          <a:lstStyle/>
          <a:p>
            <a:pPr>
              <a:def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프로젝트 저장소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수집, 실험, 보고, 예측 모듈을 분리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설정, seed, split manifest, hash와 테스트를 기록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CLI와 GUI가 같은 프로젝트 코드를 사용</a:t>
            </a:r>
          </a:p>
        </p:txBody>
      </p:sp>
    </p:spTree>
    <p:extLst>
      <p:ext uri="{BB962C8B-B14F-4D97-AF65-F5344CB8AC3E}">
        <p14:creationId xmlns:p14="http://schemas.microsoft.com/office/powerpoint/2010/main" val="411594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F8B4C-0564-A20C-5CA4-CAC0A33D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Notebook에서 공개 프로젝트로</a:t>
            </a:r>
            <a:endParaRPr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E66E2-2D62-C28C-0E39-BD3AA59C3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125"/>
            <a:ext cx="10515600" cy="4095750"/>
          </a:xfrm>
        </p:spPr>
        <p:txBody>
          <a:bodyPr wrap="square" anchor="t">
            <a:normAutofit/>
          </a:bodyPr>
          <a:lstStyle/>
          <a:p>
            <a:pPr marL="254000" indent="-139700">
              <a:spcAft>
                <a:spcPts val="240"/>
              </a:spcAft>
              <a:buChar char="•"/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최초 실험 Notebook을 설치하고 실행할 수 있는 project repository로 정리</a:t>
            </a:r>
          </a:p>
          <a:p>
            <a:pPr marL="254000" indent="-139700">
              <a:spcAft>
                <a:spcPts val="240"/>
              </a:spcAft>
              <a:buChar char="•"/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당시 계산을 보존하는 legacy 경로와 현재 분석 경로를 분리</a:t>
            </a:r>
          </a:p>
          <a:p>
            <a:pPr marL="254000" indent="-139700">
              <a:spcAft>
                <a:spcPts val="240"/>
              </a:spcAft>
              <a:buChar char="•"/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입력 파일 hash, 설정, seed, 데이터 분할과 실행 환경을 함께 기록</a:t>
            </a:r>
          </a:p>
          <a:p>
            <a:pPr marL="254000" indent="-139700">
              <a:spcAft>
                <a:spcPts val="240"/>
              </a:spcAft>
              <a:buChar char="•"/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준비, 평가, 모델 저장과 새 자료 예측을 서로 다른 단계로 분리</a:t>
            </a:r>
          </a:p>
          <a:p>
            <a:pPr marL="254000" indent="-139700">
              <a:spcAft>
                <a:spcPts val="240"/>
              </a:spcAft>
              <a:buChar char="•"/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GUI와 CLI가 같은 코드를 사용하며 Windows, macOS, Linux 자동 테스트를 추가</a:t>
            </a:r>
          </a:p>
        </p:txBody>
      </p:sp>
    </p:spTree>
    <p:extLst>
      <p:ext uri="{BB962C8B-B14F-4D97-AF65-F5344CB8AC3E}">
        <p14:creationId xmlns:p14="http://schemas.microsoft.com/office/powerpoint/2010/main" val="68169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2F16A-3DBA-5B42-B62D-673D49F28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생성 과정</a:t>
            </a:r>
            <a:endParaRPr/>
          </a:p>
        </p:txBody>
      </p:sp>
      <p:pic>
        <p:nvPicPr>
          <p:cNvPr id="8" name="내용 개체 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8032" y="2554045"/>
            <a:ext cx="7427951" cy="3087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A4F78B-A93B-B347-923B-34DADB872938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762375" cy="48101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rmAutofit/>
          </a:bodyPr>
          <a:lstStyle/>
          <a:p>
            <a:pPr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원료에서 최종 CSV까지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물 시료에 정해진 금속 농도와 reagent 조건을 조성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종이 chip 두 개의 4-channel에서 흐름 영상을 촬영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영상 ROI에서 젖음 전선의 이동 거리를 frame별 profile로 추출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시작점을 맞춘 뒤 15 frame씩 20개 구간의 Slope를 계산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 chip의 0농도·0 reagent 4개 channel 평균을 IC로 계산</a:t>
            </a:r>
          </a:p>
          <a:p>
            <a:pPr marL="254000" indent="-139700">
              <a:spcBef>
                <a:spcPts val="28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Adjusted_Slope와 조건 정보를 원천별 AIC CSV에 저장한 뒤 하나로 합침</a:t>
            </a:r>
          </a:p>
        </p:txBody>
      </p:sp>
    </p:spTree>
    <p:extLst>
      <p:ext uri="{BB962C8B-B14F-4D97-AF65-F5344CB8AC3E}">
        <p14:creationId xmlns:p14="http://schemas.microsoft.com/office/powerpoint/2010/main" val="2921986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E7703-921E-A23A-5BB2-6A48B9931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Experiment I·II 데이터 구성</a:t>
            </a:r>
          </a:p>
        </p:txBody>
      </p:sp>
      <p:graphicFrame>
        <p:nvGraphicFramePr>
          <p:cNvPr id="6" name="내용 개체 틀 3"/>
          <p:cNvGraphicFramePr/>
          <p:nvPr>
            <p:extLst>
              <p:ext uri="{D42A27DB-BD31-4B8C-83A1-F6EECF244321}">
                <p14:modId xmlns:p14="http://schemas.microsoft.com/office/powerpoint/2010/main" val="4254242403"/>
              </p:ext>
            </p:extLst>
          </p:nvPr>
        </p:nvGraphicFramePr>
        <p:xfrm>
          <a:off x="838200" y="1571625"/>
          <a:ext cx="10515600" cy="4810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dirty="0" err="1"/>
                        <a:t>항목</a:t>
                      </a:r>
                      <a:endParaRPr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/>
                        <a:t>Experiment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/>
                        <a:t>Experiment 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실험</a:t>
                      </a:r>
                      <a:r>
                        <a:rPr sz="1500" b="1" dirty="0">
                          <a:solidFill>
                            <a:srgbClr val="12384A"/>
                          </a:solidFill>
                        </a:rPr>
                        <a:t> </a:t>
                      </a: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목적</a:t>
                      </a:r>
                      <a:endParaRPr sz="1500" dirty="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dirty="0" err="1"/>
                        <a:t>기본</a:t>
                      </a:r>
                      <a:r>
                        <a:rPr sz="1500" dirty="0"/>
                        <a:t> </a:t>
                      </a:r>
                      <a:r>
                        <a:rPr sz="1500" dirty="0" err="1"/>
                        <a:t>금속·biopolymer</a:t>
                      </a:r>
                      <a:r>
                        <a:rPr sz="1500" dirty="0"/>
                        <a:t> </a:t>
                      </a:r>
                      <a:r>
                        <a:rPr sz="1500" dirty="0" err="1"/>
                        <a:t>유동</a:t>
                      </a:r>
                      <a:r>
                        <a:rPr sz="1500" dirty="0"/>
                        <a:t> </a:t>
                      </a:r>
                      <a:r>
                        <a:rPr sz="1500" dirty="0" err="1"/>
                        <a:t>반응</a:t>
                      </a:r>
                      <a:r>
                        <a:rPr sz="1500" dirty="0"/>
                        <a:t> </a:t>
                      </a:r>
                      <a:r>
                        <a:rPr sz="1500" dirty="0" err="1"/>
                        <a:t>확인</a:t>
                      </a:r>
                      <a:endParaRPr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/>
                        <a:t>시약과 유체 조건을 넓혀 복잡한 수질 환경에서 반응 범위 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금속</a:t>
                      </a:r>
                      <a:r>
                        <a:rPr sz="1500" b="1" dirty="0">
                          <a:solidFill>
                            <a:srgbClr val="12384A"/>
                          </a:solidFill>
                        </a:rPr>
                        <a:t> / </a:t>
                      </a: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시약</a:t>
                      </a:r>
                      <a:endParaRPr sz="1500" dirty="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dirty="0"/>
                        <a:t>As, Cd, Cr / Chi, Lys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/>
                        <a:t>As, Cd, Co / Alg, Tan, Gal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유체</a:t>
                      </a:r>
                      <a:r>
                        <a:rPr sz="1500" b="1" dirty="0">
                          <a:solidFill>
                            <a:srgbClr val="12384A"/>
                          </a:solidFill>
                        </a:rPr>
                        <a:t> </a:t>
                      </a: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조건</a:t>
                      </a:r>
                      <a:endParaRPr sz="1500" dirty="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altLang="ko-KR" sz="1500" dirty="0"/>
                        <a:t>DI, PBS, NaCl, RSW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dirty="0"/>
                        <a:t>DI, PBS, NaCl, RSW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원천</a:t>
                      </a:r>
                      <a:r>
                        <a:rPr sz="1500" b="1" dirty="0">
                          <a:solidFill>
                            <a:srgbClr val="12384A"/>
                          </a:solidFill>
                        </a:rPr>
                        <a:t> </a:t>
                      </a: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파일</a:t>
                      </a:r>
                      <a:endParaRPr sz="1500" dirty="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dirty="0" err="1"/>
                        <a:t>금속</a:t>
                      </a:r>
                      <a:r>
                        <a:rPr sz="1500" dirty="0"/>
                        <a:t> 3종 × </a:t>
                      </a:r>
                      <a:r>
                        <a:rPr sz="1500" dirty="0" err="1"/>
                        <a:t>시약</a:t>
                      </a:r>
                      <a:r>
                        <a:rPr sz="1500" dirty="0"/>
                        <a:t> 2종 = 6개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/>
                        <a:t>금속 3종 × 시약·유체 12조건 = 36개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 dirty="0">
                          <a:solidFill>
                            <a:srgbClr val="12384A"/>
                          </a:solidFill>
                        </a:rPr>
                        <a:t>AIC CSV </a:t>
                      </a: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행</a:t>
                      </a:r>
                      <a:r>
                        <a:rPr sz="1500" b="1" dirty="0">
                          <a:solidFill>
                            <a:srgbClr val="12384A"/>
                          </a:solidFill>
                        </a:rPr>
                        <a:t> </a:t>
                      </a:r>
                      <a:r>
                        <a:rPr sz="1500" b="1" dirty="0" err="1">
                          <a:solidFill>
                            <a:srgbClr val="12384A"/>
                          </a:solidFill>
                        </a:rPr>
                        <a:t>수</a:t>
                      </a:r>
                      <a:endParaRPr sz="1500" dirty="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dirty="0"/>
                        <a:t>6 × (</a:t>
                      </a:r>
                      <a:r>
                        <a:rPr sz="1500" dirty="0" err="1"/>
                        <a:t>금속</a:t>
                      </a:r>
                      <a:r>
                        <a:rPr sz="1500" dirty="0"/>
                        <a:t> </a:t>
                      </a:r>
                      <a:r>
                        <a:rPr sz="1500" dirty="0" err="1"/>
                        <a:t>농도</a:t>
                      </a:r>
                      <a:r>
                        <a:rPr sz="1500" dirty="0"/>
                        <a:t> 4 × reagent </a:t>
                      </a:r>
                      <a:r>
                        <a:rPr sz="1500" dirty="0" err="1"/>
                        <a:t>농도</a:t>
                      </a:r>
                      <a:r>
                        <a:rPr sz="1500" dirty="0"/>
                        <a:t> 4 × channel 8 × window 20)</a:t>
                      </a:r>
                    </a:p>
                    <a:p>
                      <a:pPr>
                        <a:buNone/>
                      </a:pPr>
                      <a:r>
                        <a:rPr sz="1500" dirty="0"/>
                        <a:t>= 15,360행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dirty="0"/>
                        <a:t>36 × 2,560 = 92,160행 </a:t>
                      </a:r>
                      <a:r>
                        <a:rPr sz="1500" dirty="0" err="1"/>
                        <a:t>예상</a:t>
                      </a:r>
                      <a:endParaRPr sz="1500" dirty="0"/>
                    </a:p>
                    <a:p>
                      <a:pPr>
                        <a:buNone/>
                      </a:pPr>
                      <a:r>
                        <a:rPr sz="1500" dirty="0" err="1"/>
                        <a:t>누락</a:t>
                      </a:r>
                      <a:r>
                        <a:rPr sz="1500" dirty="0"/>
                        <a:t> 26행 </a:t>
                      </a:r>
                      <a:r>
                        <a:rPr sz="1500" dirty="0" err="1"/>
                        <a:t>반영</a:t>
                      </a:r>
                      <a:r>
                        <a:rPr sz="1500" dirty="0"/>
                        <a:t> = 92,134행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12384A"/>
                          </a:solidFill>
                        </a:rPr>
                        <a:t>ML 입력 변환</a:t>
                      </a:r>
                      <a:endParaRPr sz="150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dirty="0" err="1"/>
                        <a:t>금속</a:t>
                      </a:r>
                      <a:r>
                        <a:rPr sz="1500" dirty="0"/>
                        <a:t> 3 × </a:t>
                      </a:r>
                      <a:r>
                        <a:rPr sz="1500" dirty="0" err="1"/>
                        <a:t>농도</a:t>
                      </a:r>
                      <a:r>
                        <a:rPr sz="1500" dirty="0"/>
                        <a:t> 4 × channel 8 = 96행</a:t>
                      </a:r>
                    </a:p>
                    <a:p>
                      <a:pPr>
                        <a:buNone/>
                      </a:pPr>
                      <a:r>
                        <a:rPr sz="1500" dirty="0"/>
                        <a:t>window 20 × </a:t>
                      </a:r>
                      <a:r>
                        <a:rPr sz="1500" dirty="0" err="1"/>
                        <a:t>시약</a:t>
                      </a:r>
                      <a:r>
                        <a:rPr sz="1500" dirty="0"/>
                        <a:t> 2 × </a:t>
                      </a:r>
                      <a:r>
                        <a:rPr sz="1500" dirty="0" err="1"/>
                        <a:t>농도</a:t>
                      </a:r>
                      <a:r>
                        <a:rPr sz="1500" dirty="0"/>
                        <a:t> 4 = 160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dirty="0" err="1"/>
                        <a:t>금속</a:t>
                      </a:r>
                      <a:r>
                        <a:rPr sz="1500" dirty="0"/>
                        <a:t> 3 × </a:t>
                      </a:r>
                      <a:r>
                        <a:rPr sz="1500" dirty="0" err="1"/>
                        <a:t>농도</a:t>
                      </a:r>
                      <a:r>
                        <a:rPr sz="1500" dirty="0"/>
                        <a:t> 4 × channel 8 = 96행</a:t>
                      </a:r>
                    </a:p>
                    <a:p>
                      <a:pPr>
                        <a:buNone/>
                      </a:pPr>
                      <a:r>
                        <a:rPr sz="1500" dirty="0"/>
                        <a:t>window 20 × </a:t>
                      </a:r>
                      <a:r>
                        <a:rPr sz="1500" dirty="0" err="1"/>
                        <a:t>조건</a:t>
                      </a:r>
                      <a:r>
                        <a:rPr sz="1500" dirty="0"/>
                        <a:t> 12 × </a:t>
                      </a:r>
                      <a:r>
                        <a:rPr sz="1500" dirty="0" err="1"/>
                        <a:t>농도</a:t>
                      </a:r>
                      <a:r>
                        <a:rPr sz="1500" dirty="0"/>
                        <a:t> 4 = 960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금속 종류 분석 주석">
            <a:extLst>
              <a:ext uri="{FF2B5EF4-FFF2-40B4-BE49-F238E27FC236}">
                <a16:creationId xmlns:a16="http://schemas.microsoft.com/office/drawing/2014/main" id="{4A5EECF8-F2CE-4307-A608-1FB2FD0F5B7C}"/>
              </a:ext>
            </a:extLst>
          </p:cNvPr>
          <p:cNvSpPr>
            <a:spLocks noGrp="1"/>
          </p:cNvSpPr>
          <p:nvPr/>
        </p:nvSpPr>
        <p:spPr>
          <a:xfrm>
            <a:off x="914400" y="6429375"/>
            <a:ext cx="103346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defRPr sz="1200" b="0">
                <a:solidFill>
                  <a:srgbClr val="3B4A5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라벨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수정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실험은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 0농도를 </a:t>
            </a: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포함한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 96개, </a:t>
            </a: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금속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종류의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분할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진단은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양성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 72개를 </a:t>
            </a:r>
            <a:r>
              <a:rPr sz="1200" b="0" dirty="0" err="1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사용합니다</a:t>
            </a:r>
            <a:r>
              <a:rPr sz="1200" b="0" dirty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4000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7BF64-D2C6-A921-9A20-B701F056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AIC 열의 의미</a:t>
            </a:r>
            <a:endParaRPr/>
          </a:p>
        </p:txBody>
      </p:sp>
      <p:graphicFrame>
        <p:nvGraphicFramePr>
          <p:cNvPr id="6" name="내용 개체 틀 3"/>
          <p:cNvGraphicFramePr/>
          <p:nvPr>
            <p:extLst>
              <p:ext uri="{D42A27DB-BD31-4B8C-83A1-F6EECF244321}">
                <p14:modId xmlns:p14="http://schemas.microsoft.com/office/powerpoint/2010/main" val="3009005431"/>
              </p:ext>
            </p:extLst>
          </p:nvPr>
        </p:nvGraphicFramePr>
        <p:xfrm>
          <a:off x="838200" y="1714500"/>
          <a:ext cx="10515600" cy="474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35"/>
                        <a:t>열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35"/>
                        <a:t>실제 의미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035"/>
                        <a:t>CSV 생성 방식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 dirty="0">
                          <a:solidFill>
                            <a:srgbClr val="12384A"/>
                          </a:solidFill>
                        </a:rPr>
                        <a:t>Combo</a:t>
                      </a:r>
                      <a:endParaRPr dirty="0"/>
                    </a:p>
                    <a:p>
                      <a:pPr>
                        <a:buNone/>
                      </a:pPr>
                      <a:r>
                        <a:rPr sz="870" b="1" dirty="0" err="1">
                          <a:solidFill>
                            <a:srgbClr val="12384A"/>
                          </a:solidFill>
                        </a:rPr>
                        <a:t>SourceFile</a:t>
                      </a:r>
                      <a:endParaRPr dirty="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조건 이름 (예: As_100_Chi_0)</a:t>
                      </a:r>
                      <a:endParaRPr sz="3600"/>
                    </a:p>
                    <a:p>
                      <a:pPr>
                        <a:buNone/>
                      </a:pPr>
                      <a:r>
                        <a:rPr sz="1200"/>
                        <a:t>개별 AIC CSV 파일명</a:t>
                      </a:r>
                      <a:endParaRPr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조건 값을 연결해 생성</a:t>
                      </a:r>
                      <a:endParaRPr sz="3600"/>
                    </a:p>
                    <a:p>
                      <a:pPr>
                        <a:buNone/>
                      </a:pPr>
                      <a:r>
                        <a:rPr sz="1200"/>
                        <a:t>합본할 때 파일 basename 추가</a:t>
                      </a:r>
                      <a:endParaRPr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>
                          <a:solidFill>
                            <a:srgbClr val="12384A"/>
                          </a:solidFill>
                        </a:rPr>
                        <a:t>METAL</a:t>
                      </a:r>
                      <a:endParaRPr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 err="1"/>
                        <a:t>검출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결과가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아니라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해당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금속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농도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실험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계열</a:t>
                      </a:r>
                      <a:endParaRPr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Combo의 첫 항목을 기록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>
                          <a:solidFill>
                            <a:srgbClr val="12384A"/>
                          </a:solidFill>
                        </a:rPr>
                        <a:t>METAL_Concentration</a:t>
                      </a:r>
                      <a:endParaRPr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 err="1"/>
                        <a:t>명목상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첨가한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금속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농도</a:t>
                      </a:r>
                      <a:r>
                        <a:rPr sz="1200" dirty="0"/>
                        <a:t>; 0은 </a:t>
                      </a:r>
                      <a:r>
                        <a:rPr sz="1200" dirty="0" err="1"/>
                        <a:t>미첨가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조건</a:t>
                      </a:r>
                      <a:endParaRPr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Combo의 금속 농도 항목을 수치로 저장</a:t>
                      </a:r>
                      <a:endParaRPr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>
                          <a:solidFill>
                            <a:srgbClr val="12384A"/>
                          </a:solidFill>
                        </a:rPr>
                        <a:t>Reagent</a:t>
                      </a:r>
                      <a:endParaRPr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/>
                        <a:t>biopolymer </a:t>
                      </a:r>
                      <a:r>
                        <a:rPr sz="1200" dirty="0" err="1"/>
                        <a:t>조건</a:t>
                      </a:r>
                      <a:r>
                        <a:rPr sz="1200" dirty="0"/>
                        <a:t>; Experiment </a:t>
                      </a:r>
                      <a:r>
                        <a:rPr sz="1200" dirty="0" err="1"/>
                        <a:t>II는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유체</a:t>
                      </a:r>
                      <a:r>
                        <a:rPr sz="1200" dirty="0"/>
                        <a:t> suffix </a:t>
                      </a:r>
                      <a:r>
                        <a:rPr sz="1200" dirty="0" err="1"/>
                        <a:t>포함</a:t>
                      </a:r>
                      <a:endParaRPr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원천 실험 조건에서 기록</a:t>
                      </a:r>
                      <a:endParaRPr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>
                          <a:solidFill>
                            <a:srgbClr val="12384A"/>
                          </a:solidFill>
                        </a:rPr>
                        <a:t>Regent_Concentration</a:t>
                      </a:r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 err="1"/>
                        <a:t>명목상</a:t>
                      </a:r>
                      <a:r>
                        <a:rPr sz="1200" dirty="0"/>
                        <a:t> reagent </a:t>
                      </a:r>
                      <a:r>
                        <a:rPr sz="1200" dirty="0" err="1"/>
                        <a:t>농도</a:t>
                      </a:r>
                      <a:r>
                        <a:rPr sz="1200" dirty="0"/>
                        <a:t>; legacy </a:t>
                      </a:r>
                      <a:r>
                        <a:rPr sz="1200" dirty="0" err="1"/>
                        <a:t>철자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유지</a:t>
                      </a:r>
                      <a:endParaRPr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Combo의 reagent 농도 항목을 수치로 저장</a:t>
                      </a:r>
                      <a:endParaRPr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>
                          <a:solidFill>
                            <a:srgbClr val="12384A"/>
                          </a:solidFill>
                        </a:rPr>
                        <a:t>Channel</a:t>
                      </a:r>
                      <a:endParaRPr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 err="1"/>
                        <a:t>두</a:t>
                      </a:r>
                      <a:r>
                        <a:rPr sz="1200" dirty="0"/>
                        <a:t> 4-channel </a:t>
                      </a:r>
                      <a:r>
                        <a:rPr sz="1200" dirty="0" err="1"/>
                        <a:t>chip을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연결한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위치</a:t>
                      </a:r>
                      <a:r>
                        <a:rPr sz="1200" dirty="0"/>
                        <a:t> 0–7</a:t>
                      </a:r>
                      <a:endParaRPr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두 chip의 channel 순서를 결합</a:t>
                      </a:r>
                      <a:endParaRPr sz="3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>
                          <a:solidFill>
                            <a:srgbClr val="12384A"/>
                          </a:solidFill>
                        </a:rPr>
                        <a:t>WindowEdge</a:t>
                      </a:r>
                      <a:endParaRPr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/>
                        <a:t>15-frame </a:t>
                      </a:r>
                      <a:r>
                        <a:rPr sz="1200" dirty="0" err="1"/>
                        <a:t>구간의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마지막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정렬</a:t>
                      </a:r>
                      <a:r>
                        <a:rPr sz="1200" dirty="0"/>
                        <a:t> frame; 15–300</a:t>
                      </a:r>
                      <a:endParaRPr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 err="1"/>
                        <a:t>정렬된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profile을</a:t>
                      </a:r>
                      <a:r>
                        <a:rPr sz="1200" dirty="0"/>
                        <a:t> 15 </a:t>
                      </a:r>
                      <a:r>
                        <a:rPr sz="1200" dirty="0" err="1"/>
                        <a:t>frame씩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나눠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기록</a:t>
                      </a:r>
                      <a:endParaRPr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>
                          <a:solidFill>
                            <a:srgbClr val="12384A"/>
                          </a:solidFill>
                        </a:rPr>
                        <a:t>Slope</a:t>
                      </a:r>
                      <a:endParaRPr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구간별 유동 기울기; 단위 pixel/√frame</a:t>
                      </a:r>
                      <a:endParaRPr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 err="1"/>
                        <a:t>유동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거리를</a:t>
                      </a:r>
                      <a:r>
                        <a:rPr sz="1200" dirty="0"/>
                        <a:t> √</a:t>
                      </a:r>
                      <a:r>
                        <a:rPr sz="1200" dirty="0" err="1"/>
                        <a:t>frame에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절편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포함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선형회귀</a:t>
                      </a:r>
                      <a:endParaRPr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>
                          <a:solidFill>
                            <a:srgbClr val="12384A"/>
                          </a:solidFill>
                        </a:rPr>
                        <a:t>IC</a:t>
                      </a:r>
                      <a:endParaRPr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같은 source·chip·window의 내부 대조값</a:t>
                      </a:r>
                      <a:endParaRPr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 err="1"/>
                        <a:t>금속</a:t>
                      </a:r>
                      <a:r>
                        <a:rPr sz="1200" dirty="0"/>
                        <a:t> 0·reagent 0 </a:t>
                      </a:r>
                      <a:r>
                        <a:rPr sz="1200" dirty="0" err="1"/>
                        <a:t>조건의</a:t>
                      </a:r>
                      <a:r>
                        <a:rPr sz="1200" dirty="0"/>
                        <a:t> 4-channel Slope </a:t>
                      </a:r>
                      <a:r>
                        <a:rPr sz="1200" dirty="0" err="1"/>
                        <a:t>평균</a:t>
                      </a:r>
                      <a:endParaRPr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870" b="1">
                          <a:solidFill>
                            <a:srgbClr val="12384A"/>
                          </a:solidFill>
                        </a:rPr>
                        <a:t>Adjusted_Slope</a:t>
                      </a:r>
                      <a:endParaRPr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blank 보정값이며 실제 ML 수치 feature</a:t>
                      </a:r>
                      <a:endParaRPr sz="3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dirty="0"/>
                        <a:t>Slope − IC</a:t>
                      </a:r>
                      <a:endParaRPr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검산 주석">
            <a:extLst>
              <a:ext uri="{FF2B5EF4-FFF2-40B4-BE49-F238E27FC236}">
                <a16:creationId xmlns:a16="http://schemas.microsoft.com/office/drawing/2014/main" id="{1CCC1704-CB92-430B-A5C2-F78809C0E429}"/>
              </a:ext>
            </a:extLst>
          </p:cNvPr>
          <p:cNvSpPr>
            <a:spLocks noGrp="1"/>
          </p:cNvSpPr>
          <p:nvPr/>
        </p:nvSpPr>
        <p:spPr>
          <a:xfrm>
            <a:off x="876300" y="1381125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8039"/>
          </a:bodyPr>
          <a:lstStyle/>
          <a:p>
            <a:pPr algn="l">
              <a:defRPr sz="1275" b="0">
                <a:solidFill>
                  <a:srgbClr val="3B4A54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두 공개 snapshot의 42개 SourceFile과 생성 코드를 다시 대조했습니다.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552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640C7-8493-5524-95F9-824B9BFC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Experiment I·II 당시 분석 결과</a:t>
            </a:r>
            <a:endParaRPr/>
          </a:p>
        </p:txBody>
      </p:sp>
      <p:graphicFrame>
        <p:nvGraphicFramePr>
          <p:cNvPr id="5" name="내용 개체 틀 3"/>
          <p:cNvGraphicFramePr/>
          <p:nvPr>
            <p:extLst>
              <p:ext uri="{D42A27DB-BD31-4B8C-83A1-F6EECF244321}">
                <p14:modId xmlns:p14="http://schemas.microsoft.com/office/powerpoint/2010/main" val="2443186045"/>
              </p:ext>
            </p:extLst>
          </p:nvPr>
        </p:nvGraphicFramePr>
        <p:xfrm>
          <a:off x="838200" y="1666875"/>
          <a:ext cx="10515600" cy="4589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dirty="0" err="1"/>
                        <a:t>구분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Experiment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/>
                        <a:t>Experiment 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 dirty="0" err="1">
                          <a:solidFill>
                            <a:srgbClr val="12384A"/>
                          </a:solidFill>
                        </a:rPr>
                        <a:t>실험</a:t>
                      </a:r>
                      <a:r>
                        <a:rPr sz="1600" b="1" dirty="0">
                          <a:solidFill>
                            <a:srgbClr val="12384A"/>
                          </a:solidFill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2384A"/>
                          </a:solidFill>
                        </a:rPr>
                        <a:t>목적</a:t>
                      </a:r>
                      <a:endParaRPr sz="1600" dirty="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As·Cd·Cr을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Chi·Lys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반응으로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구분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As·Cd·Co를 Alg·Tan·Gal 반응으로 구분</a:t>
                      </a:r>
                    </a:p>
                    <a:p>
                      <a:pPr>
                        <a:buNone/>
                      </a:pPr>
                      <a:r>
                        <a:rPr sz="1400"/>
                        <a:t>DI·PBS·NaCl·RSW 조건 포함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 dirty="0" err="1">
                          <a:solidFill>
                            <a:srgbClr val="12384A"/>
                          </a:solidFill>
                        </a:rPr>
                        <a:t>학습</a:t>
                      </a:r>
                      <a:r>
                        <a:rPr sz="1600" b="1" dirty="0">
                          <a:solidFill>
                            <a:srgbClr val="12384A"/>
                          </a:solidFill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2384A"/>
                          </a:solidFill>
                        </a:rPr>
                        <a:t>자료</a:t>
                      </a:r>
                      <a:endParaRPr sz="1600" dirty="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금속별</a:t>
                      </a:r>
                      <a:r>
                        <a:rPr sz="1400" dirty="0"/>
                        <a:t> 32개, </a:t>
                      </a:r>
                      <a:r>
                        <a:rPr sz="1400" dirty="0" err="1"/>
                        <a:t>총</a:t>
                      </a:r>
                      <a:r>
                        <a:rPr sz="1400" dirty="0"/>
                        <a:t> 96개 sample</a:t>
                      </a:r>
                    </a:p>
                    <a:p>
                      <a:pPr>
                        <a:buNone/>
                      </a:pPr>
                      <a:r>
                        <a:rPr sz="1400" dirty="0"/>
                        <a:t>0농도 </a:t>
                      </a:r>
                      <a:r>
                        <a:rPr sz="1400" dirty="0" err="1"/>
                        <a:t>포함</a:t>
                      </a:r>
                      <a:r>
                        <a:rPr sz="1400" dirty="0"/>
                        <a:t> · </a:t>
                      </a:r>
                      <a:r>
                        <a:rPr sz="1400" dirty="0" err="1"/>
                        <a:t>sample당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측정값</a:t>
                      </a:r>
                      <a:r>
                        <a:rPr sz="1400" dirty="0"/>
                        <a:t> 160개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금속별 32개, 총 96개 sample</a:t>
                      </a:r>
                    </a:p>
                    <a:p>
                      <a:pPr>
                        <a:buNone/>
                      </a:pPr>
                      <a:r>
                        <a:rPr sz="1400"/>
                        <a:t>0농도 포함 · sample당 측정값 960개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2384A"/>
                          </a:solidFill>
                        </a:rPr>
                        <a:t>평가 방식</a:t>
                      </a:r>
                      <a:endParaRPr sz="160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XGBoost</a:t>
                      </a:r>
                      <a:r>
                        <a:rPr sz="1400" dirty="0"/>
                        <a:t>: </a:t>
                      </a:r>
                      <a:r>
                        <a:rPr sz="1400" dirty="0" err="1"/>
                        <a:t>반복</a:t>
                      </a:r>
                      <a:r>
                        <a:rPr sz="1400" dirty="0"/>
                        <a:t> 5분할</a:t>
                      </a:r>
                    </a:p>
                    <a:p>
                      <a:pPr>
                        <a:buNone/>
                      </a:pPr>
                      <a:r>
                        <a:rPr sz="1400" dirty="0"/>
                        <a:t>RF·SVM: channel </a:t>
                      </a:r>
                      <a:r>
                        <a:rPr sz="1400" dirty="0" err="1"/>
                        <a:t>위치별</a:t>
                      </a:r>
                      <a:r>
                        <a:rPr sz="1400" dirty="0"/>
                        <a:t> 5분할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XGBoost</a:t>
                      </a:r>
                      <a:r>
                        <a:rPr sz="1400" dirty="0"/>
                        <a:t>: 5분할을 5회 </a:t>
                      </a:r>
                      <a:r>
                        <a:rPr sz="1400" dirty="0" err="1"/>
                        <a:t>반복</a:t>
                      </a:r>
                      <a:r>
                        <a:rPr sz="1400" dirty="0"/>
                        <a:t>(</a:t>
                      </a:r>
                      <a:r>
                        <a:rPr sz="1400" dirty="0" err="1"/>
                        <a:t>총</a:t>
                      </a:r>
                      <a:r>
                        <a:rPr sz="1400" dirty="0"/>
                        <a:t> 25회)</a:t>
                      </a:r>
                    </a:p>
                    <a:p>
                      <a:pPr>
                        <a:buNone/>
                      </a:pPr>
                      <a:r>
                        <a:rPr sz="1400" dirty="0"/>
                        <a:t>RF·SVM: channel </a:t>
                      </a:r>
                      <a:r>
                        <a:rPr sz="1400" dirty="0" err="1"/>
                        <a:t>위치별</a:t>
                      </a:r>
                      <a:r>
                        <a:rPr sz="1400" dirty="0"/>
                        <a:t> 5분할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2384A"/>
                          </a:solidFill>
                        </a:rPr>
                        <a:t>전체 조건 평균 정확도</a:t>
                      </a:r>
                      <a:endParaRPr sz="160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XGBoost</a:t>
                      </a:r>
                      <a:r>
                        <a:rPr sz="1400" dirty="0"/>
                        <a:t> 76.65%</a:t>
                      </a:r>
                    </a:p>
                    <a:p>
                      <a:pPr>
                        <a:buNone/>
                      </a:pPr>
                      <a:r>
                        <a:rPr sz="1400" dirty="0"/>
                        <a:t>Random Forest 93.33%</a:t>
                      </a:r>
                    </a:p>
                    <a:p>
                      <a:pPr>
                        <a:buNone/>
                      </a:pPr>
                      <a:r>
                        <a:rPr sz="1400" dirty="0"/>
                        <a:t>SVM 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XGBoost</a:t>
                      </a:r>
                      <a:r>
                        <a:rPr sz="1400" dirty="0"/>
                        <a:t> 99.37%</a:t>
                      </a:r>
                    </a:p>
                    <a:p>
                      <a:pPr>
                        <a:buNone/>
                      </a:pPr>
                      <a:r>
                        <a:rPr sz="1400" dirty="0"/>
                        <a:t>Random Forest 100%</a:t>
                      </a:r>
                    </a:p>
                    <a:p>
                      <a:pPr>
                        <a:buNone/>
                      </a:pPr>
                      <a:r>
                        <a:rPr sz="1400" dirty="0"/>
                        <a:t>SVM 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2384A"/>
                          </a:solidFill>
                        </a:rPr>
                        <a:t>세부 결과</a:t>
                      </a:r>
                      <a:endParaRPr sz="160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/>
                        <a:t>Chi </a:t>
                      </a:r>
                      <a:r>
                        <a:rPr sz="1400" dirty="0" err="1"/>
                        <a:t>조건이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상대적으로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낮음</a:t>
                      </a:r>
                      <a:endParaRPr sz="1400" dirty="0"/>
                    </a:p>
                    <a:p>
                      <a:pPr>
                        <a:buNone/>
                      </a:pPr>
                      <a:r>
                        <a:rPr sz="1400" dirty="0"/>
                        <a:t>Poly-L-lysine </a:t>
                      </a:r>
                      <a:r>
                        <a:rPr sz="1400" dirty="0" err="1"/>
                        <a:t>조건이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더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높음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Tannin이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시약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중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상대적으로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낮음</a:t>
                      </a:r>
                      <a:endParaRPr sz="1400" dirty="0"/>
                    </a:p>
                    <a:p>
                      <a:pPr>
                        <a:buNone/>
                      </a:pPr>
                      <a:r>
                        <a:rPr sz="1400" dirty="0" err="1"/>
                        <a:t>NaCl이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가장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높고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DI의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XGBoost가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가장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낮음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600" b="1">
                          <a:solidFill>
                            <a:srgbClr val="12384A"/>
                          </a:solidFill>
                        </a:rPr>
                        <a:t>추가 점검·당시 해석</a:t>
                      </a:r>
                      <a:endParaRPr sz="1600"/>
                    </a:p>
                  </a:txBody>
                  <a:tcPr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RF·SVM은</a:t>
                      </a:r>
                      <a:r>
                        <a:rPr sz="1400" dirty="0"/>
                        <a:t> 90% </a:t>
                      </a:r>
                      <a:r>
                        <a:rPr sz="1400" dirty="0" err="1"/>
                        <a:t>이상</a:t>
                      </a:r>
                      <a:r>
                        <a:rPr sz="1400" dirty="0"/>
                        <a:t>,</a:t>
                      </a:r>
                    </a:p>
                    <a:p>
                      <a:pPr>
                        <a:buNone/>
                      </a:pPr>
                      <a:r>
                        <a:rPr sz="1400" dirty="0" err="1"/>
                        <a:t>XGBoost는</a:t>
                      </a:r>
                      <a:r>
                        <a:rPr sz="1400" dirty="0"/>
                        <a:t> 80% </a:t>
                      </a:r>
                      <a:r>
                        <a:rPr sz="1400" dirty="0" err="1"/>
                        <a:t>미만으로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보고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 dirty="0" err="1"/>
                        <a:t>라벨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섞기</a:t>
                      </a:r>
                      <a:r>
                        <a:rPr sz="1400" dirty="0"/>
                        <a:t> 32.3% · 1-NN 95.8%</a:t>
                      </a:r>
                    </a:p>
                    <a:p>
                      <a:pPr>
                        <a:buNone/>
                      </a:pPr>
                      <a:r>
                        <a:rPr sz="1400" dirty="0" err="1"/>
                        <a:t>단일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측정값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최고</a:t>
                      </a:r>
                      <a:r>
                        <a:rPr sz="1400" dirty="0"/>
                        <a:t> 67.7%</a:t>
                      </a:r>
                    </a:p>
                    <a:p>
                      <a:pPr>
                        <a:buNone/>
                      </a:pPr>
                      <a:r>
                        <a:rPr sz="1400" dirty="0" err="1"/>
                        <a:t>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모델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모두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높은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성능으로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보고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86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B2AD9-CC00-0EFA-565F-A8770AEC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Experiment II의 원래 분류 결과</a:t>
            </a:r>
            <a:endParaRPr/>
          </a:p>
        </p:txBody>
      </p:sp>
      <p:graphicFrame>
        <p:nvGraphicFramePr>
          <p:cNvPr id="8" name="표 7"/>
          <p:cNvGraphicFramePr/>
          <p:nvPr>
            <p:extLst>
              <p:ext uri="{D42A27DB-BD31-4B8C-83A1-F6EECF244321}">
                <p14:modId xmlns:p14="http://schemas.microsoft.com/office/powerpoint/2010/main" val="3574017821"/>
              </p:ext>
            </p:extLst>
          </p:nvPr>
        </p:nvGraphicFramePr>
        <p:xfrm>
          <a:off x="838200" y="1809750"/>
          <a:ext cx="6096000" cy="233362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6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정확도</a:t>
                      </a:r>
                    </a:p>
                  </a:txBody>
                  <a:tcPr anchor="ctr">
                    <a:solidFill>
                      <a:srgbClr val="176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표준편차</a:t>
                      </a:r>
                    </a:p>
                  </a:txBody>
                  <a:tcPr anchor="ctr">
                    <a:solidFill>
                      <a:srgbClr val="176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XGBoost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99.37%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Random Forest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 dirty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SVM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 dirty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표의 표본 구성">
            <a:extLst>
              <a:ext uri="{FF2B5EF4-FFF2-40B4-BE49-F238E27FC236}">
                <a16:creationId xmlns:a16="http://schemas.microsoft.com/office/drawing/2014/main" id="{BFD2D9F0-7F5C-4805-8624-3A702DD860AD}"/>
              </a:ext>
            </a:extLst>
          </p:cNvPr>
          <p:cNvSpPr>
            <a:spLocks noGrp="1"/>
          </p:cNvSpPr>
          <p:nvPr/>
        </p:nvSpPr>
        <p:spPr>
          <a:xfrm>
            <a:off x="838200" y="4429125"/>
            <a:ext cx="6096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>
              <a:defRPr sz="146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63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96개 </a:t>
            </a:r>
            <a:r>
              <a:rPr sz="1463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sample의</a:t>
            </a:r>
            <a:r>
              <a:rPr sz="1463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63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구성</a:t>
            </a:r>
            <a:endParaRPr sz="1463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46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Metal</a:t>
            </a:r>
            <a:r>
              <a:rPr lang="ko-KR" altLang="en-US"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별</a:t>
            </a:r>
            <a:r>
              <a:rPr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32개 = </a:t>
            </a:r>
            <a:r>
              <a:rPr lang="en-US" sz="1463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Metal_concentration</a:t>
            </a:r>
            <a:r>
              <a:rPr lang="en-US"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4개 × channel 8개</a:t>
            </a: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46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63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각</a:t>
            </a:r>
            <a:r>
              <a:rPr sz="146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63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금속의</a:t>
            </a:r>
            <a:r>
              <a:rPr sz="146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32개에는 </a:t>
            </a:r>
            <a:r>
              <a:rPr lang="en-US" sz="1463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Metal_concentration</a:t>
            </a:r>
            <a:r>
              <a:rPr lang="en-US" sz="146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=0</a:t>
            </a:r>
            <a:r>
              <a:rPr sz="1463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sample 8개가 </a:t>
            </a:r>
            <a:r>
              <a:rPr sz="1463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포함</a:t>
            </a:r>
            <a:endParaRPr sz="1463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46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Random </a:t>
            </a:r>
            <a:r>
              <a:rPr sz="1463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Forest와</a:t>
            </a:r>
            <a:r>
              <a:rPr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63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SVM은</a:t>
            </a:r>
            <a:r>
              <a:rPr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63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각</a:t>
            </a:r>
            <a:r>
              <a:rPr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63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</a:t>
            </a:r>
            <a:r>
              <a:rPr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63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계열</a:t>
            </a:r>
            <a:r>
              <a:rPr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32개를 </a:t>
            </a:r>
            <a:r>
              <a:rPr sz="1463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sz="1463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63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맞힘</a:t>
            </a:r>
            <a:endParaRPr sz="1463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문제 제기">
            <a:extLst>
              <a:ext uri="{FF2B5EF4-FFF2-40B4-BE49-F238E27FC236}">
                <a16:creationId xmlns:a16="http://schemas.microsoft.com/office/drawing/2014/main" id="{78F76A50-8157-49D3-A82A-D3E2BAE31095}"/>
              </a:ext>
            </a:extLst>
          </p:cNvPr>
          <p:cNvSpPr>
            <a:spLocks noGrp="1"/>
          </p:cNvSpPr>
          <p:nvPr/>
        </p:nvSpPr>
        <p:spPr>
          <a:xfrm>
            <a:off x="7381875" y="1952625"/>
            <a:ext cx="3905250" cy="3476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여기서</a:t>
            </a:r>
            <a:r>
              <a:rPr sz="165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생긴</a:t>
            </a:r>
            <a:r>
              <a:rPr sz="165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의문</a:t>
            </a:r>
            <a:endParaRPr sz="165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금속을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넣지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않은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sample도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As·Cd·Co로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정확히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구분됨</a:t>
            </a:r>
            <a:endParaRPr sz="165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모델이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존재보다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계열의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차이를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학습했을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가능성</a:t>
            </a:r>
            <a:endParaRPr sz="165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0농도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sample만으로도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계열을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맞힐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있는지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확인</a:t>
            </a:r>
            <a:r>
              <a:rPr sz="165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65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필요</a:t>
            </a:r>
            <a:endParaRPr sz="165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83049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6552F-9A2E-5396-1690-6460ACB8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100% 성능에서 제기한 질문</a:t>
            </a:r>
            <a:endParaRPr/>
          </a:p>
        </p:txBody>
      </p:sp>
      <p:sp>
        <p:nvSpPr>
          <p:cNvPr id="3" name="문제 제기 흐름">
            <a:extLst>
              <a:ext uri="{FF2B5EF4-FFF2-40B4-BE49-F238E27FC236}">
                <a16:creationId xmlns:a16="http://schemas.microsoft.com/office/drawing/2014/main" id="{E1EB9976-FABF-4A2C-AD17-AD442825D2CD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10515600" cy="42386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76200" rIns="76200" bIns="76200" anchor="t">
            <a:normAutofit/>
          </a:bodyPr>
          <a:lstStyle/>
          <a:p>
            <a:pPr>
              <a:lnSpc>
                <a:spcPct val="150000"/>
              </a:lnSpc>
              <a:spcAft>
                <a:spcPts val="380"/>
              </a:spcAft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의도한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task  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flow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profile을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보고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실제로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첨가된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종류를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구분한다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ct val="150000"/>
              </a:lnSpc>
              <a:spcAft>
                <a:spcPts val="380"/>
              </a:spcAft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발견한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현상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Experiment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II에서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0농도를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포함한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96개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RF와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SVM이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맞혔다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ct val="150000"/>
              </a:lnSpc>
              <a:spcAft>
                <a:spcPts val="380"/>
              </a:spcAft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라벨의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문제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넣지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않은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sample에도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As·Cd·Co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라벨이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붙어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있다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라벨을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맞히는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검출을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뜻하는지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의문이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생겼다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ct val="150000"/>
              </a:lnSpc>
              <a:spcAft>
                <a:spcPts val="380"/>
              </a:spcAft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방법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concentration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sample 24개만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계열을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구분하는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모델을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별도로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학습했다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ct val="150000"/>
              </a:lnSpc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외에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계열을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구별할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정보가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없다면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균형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잡힌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3개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계열의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우연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수준은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평균적으로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33.3%다.</a:t>
            </a:r>
          </a:p>
        </p:txBody>
      </p:sp>
      <p:sp>
        <p:nvSpPr>
          <p:cNvPr id="4" name="핵심 가설">
            <a:extLst>
              <a:ext uri="{FF2B5EF4-FFF2-40B4-BE49-F238E27FC236}">
                <a16:creationId xmlns:a16="http://schemas.microsoft.com/office/drawing/2014/main" id="{F2CFEE16-161F-4F99-928A-F62A9549D16B}"/>
              </a:ext>
            </a:extLst>
          </p:cNvPr>
          <p:cNvSpPr>
            <a:spLocks noGrp="1"/>
          </p:cNvSpPr>
          <p:nvPr/>
        </p:nvSpPr>
        <p:spPr>
          <a:xfrm>
            <a:off x="1095375" y="6000750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ctr">
              <a:defRPr sz="1500" b="1">
                <a:solidFill>
                  <a:srgbClr val="12384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0농도에서도 계열을 구별한다면, 라벨이 금속 검출과 다른 task를 만들었을 가능성이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32703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89050-FE06-CCA1-C206-B21047EA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44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concentration </a:t>
            </a:r>
            <a:r>
              <a:rPr lang="en-US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only</a:t>
            </a:r>
            <a:r>
              <a:rPr sz="44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44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experiment</a:t>
            </a:r>
            <a:endParaRPr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33077" y="1571625"/>
            <a:ext cx="8525847" cy="4095750"/>
          </a:xfrm>
          <a:prstGeom prst="rect">
            <a:avLst/>
          </a:prstGeom>
        </p:spPr>
      </p:pic>
      <p:sp>
        <p:nvSpPr>
          <p:cNvPr id="4" name="그림3 해석">
            <a:extLst>
              <a:ext uri="{FF2B5EF4-FFF2-40B4-BE49-F238E27FC236}">
                <a16:creationId xmlns:a16="http://schemas.microsoft.com/office/drawing/2014/main" id="{03D0D179-34C5-4EA3-8313-A0EBF6BC8C92}"/>
              </a:ext>
            </a:extLst>
          </p:cNvPr>
          <p:cNvSpPr>
            <a:spLocks noGrp="1"/>
          </p:cNvSpPr>
          <p:nvPr/>
        </p:nvSpPr>
        <p:spPr>
          <a:xfrm>
            <a:off x="904875" y="5715000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Experiment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I은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16/24, Experiment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II는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24/24를 </a:t>
            </a:r>
            <a:r>
              <a:rPr lang="ko-KR" altLang="en-US" sz="14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맞힘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 </a:t>
            </a:r>
            <a:endParaRPr lang="en-US" sz="1425" b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금속을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첨가하지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않은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조건에도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계열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정보가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남아</a:t>
            </a:r>
            <a:r>
              <a:rPr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425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있</a:t>
            </a:r>
            <a:r>
              <a:rPr lang="ko-KR" altLang="en-US"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을 수 있음을 암시</a:t>
            </a:r>
            <a:r>
              <a:rPr lang="en-US" altLang="ko-KR" sz="1425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425" b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BA 정의">
            <a:extLst>
              <a:ext uri="{FF2B5EF4-FFF2-40B4-BE49-F238E27FC236}">
                <a16:creationId xmlns:a16="http://schemas.microsoft.com/office/drawing/2014/main" id="{0DF3BD34-C989-4FF6-9FEC-C7FC2B82E601}"/>
              </a:ext>
            </a:extLst>
          </p:cNvPr>
          <p:cNvSpPr>
            <a:spLocks noGrp="1"/>
          </p:cNvSpPr>
          <p:nvPr/>
        </p:nvSpPr>
        <p:spPr>
          <a:xfrm>
            <a:off x="904875" y="6286500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8039"/>
          </a:bodyPr>
          <a:lstStyle/>
          <a:p>
            <a:pPr algn="r">
              <a:defRPr sz="1275" b="0">
                <a:solidFill>
                  <a:srgbClr val="3B4A54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>
                <a:solidFill>
                  <a:srgbClr val="3B4A54"/>
                </a:solidFill>
                <a:latin typeface="맑은 고딕"/>
                <a:ea typeface="맑은 고딕"/>
                <a:cs typeface="맑은 고딕"/>
              </a:rPr>
              <a:t>BA = Balanced Accuracy: 금속 계열별 정답률을 계산한 뒤 평균한 값</a:t>
            </a:r>
          </a:p>
        </p:txBody>
      </p:sp>
    </p:spTree>
    <p:extLst>
      <p:ext uri="{BB962C8B-B14F-4D97-AF65-F5344CB8AC3E}">
        <p14:creationId xmlns:p14="http://schemas.microsoft.com/office/powerpoint/2010/main" val="806346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6552F-9A2E-5396-1690-6460ACB8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ko-KR" altLang="en-US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concentration</a:t>
            </a:r>
            <a:r>
              <a:rPr sz="44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44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labelling experiment</a:t>
            </a:r>
            <a:endParaRPr sz="440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804E271-0DDD-4983-809D-D7FBF26E49F8}"/>
              </a:ext>
            </a:extLst>
          </p:cNvPr>
          <p:cNvSpPr>
            <a:spLocks noGrp="1"/>
          </p:cNvSpPr>
          <p:nvPr/>
        </p:nvSpPr>
        <p:spPr>
          <a:xfrm>
            <a:off x="904875" y="1571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en-US" sz="150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concentration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24개의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정답만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미첨가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not_added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)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변경하고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입력과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학습·평가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배정은</a:t>
            </a:r>
            <a:r>
              <a:rPr sz="1500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유지</a:t>
            </a:r>
            <a:endParaRPr sz="1500" b="0" dirty="0">
              <a:solidFill>
                <a:srgbClr val="11111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experiment_i heading">
            <a:extLst>
              <a:ext uri="{FF2B5EF4-FFF2-40B4-BE49-F238E27FC236}">
                <a16:creationId xmlns:a16="http://schemas.microsoft.com/office/drawing/2014/main" id="{16BB4C25-C1D4-4D59-8311-20774C62B399}"/>
              </a:ext>
            </a:extLst>
          </p:cNvPr>
          <p:cNvSpPr>
            <a:spLocks noGrp="1"/>
          </p:cNvSpPr>
          <p:nvPr/>
        </p:nvSpPr>
        <p:spPr>
          <a:xfrm>
            <a:off x="1095375" y="2095500"/>
            <a:ext cx="471487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Experiment I  Random Forest</a:t>
            </a:r>
          </a:p>
        </p:txBody>
      </p:sp>
      <p:sp>
        <p:nvSpPr>
          <p:cNvPr id="5" name="experiment_i accuracy">
            <a:extLst>
              <a:ext uri="{FF2B5EF4-FFF2-40B4-BE49-F238E27FC236}">
                <a16:creationId xmlns:a16="http://schemas.microsoft.com/office/drawing/2014/main" id="{6F018688-53F3-4FAB-BFD8-9E391AEB112D}"/>
              </a:ext>
            </a:extLst>
          </p:cNvPr>
          <p:cNvSpPr>
            <a:spLocks noGrp="1"/>
          </p:cNvSpPr>
          <p:nvPr/>
        </p:nvSpPr>
        <p:spPr>
          <a:xfrm>
            <a:off x="1095375" y="2476500"/>
            <a:ext cx="47148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정확도 62.5% (60/96)</a:t>
            </a:r>
          </a:p>
        </p:txBody>
      </p:sp>
      <p:graphicFrame>
        <p:nvGraphicFramePr>
          <p:cNvPr id="6" name="표 5"/>
          <p:cNvGraphicFramePr/>
          <p:nvPr/>
        </p:nvGraphicFramePr>
        <p:xfrm>
          <a:off x="1000125" y="2914650"/>
          <a:ext cx="4762500" cy="2238375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/ 예측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미첨가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미첨가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8100" marR="38100" marT="28575" marB="28575" anchor="ctr">
                    <a:solidFill>
                      <a:srgbClr val="E3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8100" marR="38100" marT="28575" marB="28575" anchor="ctr">
                    <a:solidFill>
                      <a:srgbClr val="BBC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8100" marR="38100" marT="28575" marB="28575" anchor="ctr">
                    <a:solidFill>
                      <a:srgbClr val="9DA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8100" marR="38100" marT="28575" marB="28575" anchor="ctr">
                    <a:solidFill>
                      <a:srgbClr val="B1C0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8100" marR="38100" marT="28575" marB="28575" anchor="ctr">
                    <a:solidFill>
                      <a:srgbClr val="B1C0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</a:t>
                      </a:r>
                    </a:p>
                  </a:txBody>
                  <a:tcPr marL="38100" marR="38100" marT="28575" marB="28575" anchor="ctr">
                    <a:solidFill>
                      <a:srgbClr val="5874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8100" marR="38100" marT="28575" marB="28575" anchor="ctr">
                    <a:solidFill>
                      <a:srgbClr val="D9E2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38100" marR="38100" marT="28575" marB="28575" anchor="ctr">
                    <a:solidFill>
                      <a:srgbClr val="3052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8100" marR="38100" marT="28575" marB="28575" anchor="ctr">
                    <a:solidFill>
                      <a:srgbClr val="ED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8100" marR="38100" marT="28575" marB="28575" anchor="ctr">
                    <a:solidFill>
                      <a:srgbClr val="E3EA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38100" marR="38100" marT="28575" marB="28575" anchor="ctr">
                    <a:solidFill>
                      <a:srgbClr val="1C41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experiment_i blank">
            <a:extLst>
              <a:ext uri="{FF2B5EF4-FFF2-40B4-BE49-F238E27FC236}">
                <a16:creationId xmlns:a16="http://schemas.microsoft.com/office/drawing/2014/main" id="{3BB51868-0802-42B0-B282-4322A85EA436}"/>
              </a:ext>
            </a:extLst>
          </p:cNvPr>
          <p:cNvSpPr>
            <a:spLocks noGrp="1"/>
          </p:cNvSpPr>
          <p:nvPr/>
        </p:nvSpPr>
        <p:spPr>
          <a:xfrm>
            <a:off x="2095500" y="5286375"/>
            <a:ext cx="3667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74F78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74F78"/>
                </a:solidFill>
                <a:latin typeface="맑은 고딕"/>
                <a:ea typeface="맑은 고딕"/>
                <a:cs typeface="맑은 고딕"/>
              </a:rPr>
              <a:t>미첨가 정답 2/24</a:t>
            </a:r>
          </a:p>
        </p:txBody>
      </p:sp>
      <p:sp>
        <p:nvSpPr>
          <p:cNvPr id="8" name="experiment_ii heading">
            <a:extLst>
              <a:ext uri="{FF2B5EF4-FFF2-40B4-BE49-F238E27FC236}">
                <a16:creationId xmlns:a16="http://schemas.microsoft.com/office/drawing/2014/main" id="{036F2151-72E1-4C07-920F-A40939B75A43}"/>
              </a:ext>
            </a:extLst>
          </p:cNvPr>
          <p:cNvSpPr>
            <a:spLocks noGrp="1"/>
          </p:cNvSpPr>
          <p:nvPr/>
        </p:nvSpPr>
        <p:spPr>
          <a:xfrm>
            <a:off x="6524625" y="2095500"/>
            <a:ext cx="471487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Experiment II  Random Forest</a:t>
            </a:r>
          </a:p>
        </p:txBody>
      </p:sp>
      <p:sp>
        <p:nvSpPr>
          <p:cNvPr id="9" name="experiment_ii accuracy">
            <a:extLst>
              <a:ext uri="{FF2B5EF4-FFF2-40B4-BE49-F238E27FC236}">
                <a16:creationId xmlns:a16="http://schemas.microsoft.com/office/drawing/2014/main" id="{97C89E69-8C9C-4564-BA44-B1C3E7160C48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148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정확도 81.3% (78/96)</a:t>
            </a:r>
          </a:p>
        </p:txBody>
      </p:sp>
      <p:graphicFrame>
        <p:nvGraphicFramePr>
          <p:cNvPr id="10" name="표 9"/>
          <p:cNvGraphicFramePr/>
          <p:nvPr/>
        </p:nvGraphicFramePr>
        <p:xfrm>
          <a:off x="6429375" y="2914650"/>
          <a:ext cx="4762500" cy="2238375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/ 예측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미첨가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미첨가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8100" marR="38100" marT="28575" marB="28575" anchor="ctr">
                    <a:solidFill>
                      <a:srgbClr val="BBC8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8100" marR="38100" marT="28575" marB="28575" anchor="ctr">
                    <a:solidFill>
                      <a:srgbClr val="C5D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8100" marR="38100" marT="28575" marB="28575" anchor="ctr">
                    <a:solidFill>
                      <a:srgbClr val="B1C0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8100" marR="38100" marT="28575" marB="28575" anchor="ctr">
                    <a:solidFill>
                      <a:srgbClr val="BBC8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38100" marR="38100" marT="28575" marB="28575" anchor="ctr">
                    <a:solidFill>
                      <a:srgbClr val="083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38100" marR="38100" marT="28575" marB="28575" anchor="ctr">
                    <a:solidFill>
                      <a:srgbClr val="083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</a:t>
                      </a:r>
                    </a:p>
                  </a:txBody>
                  <a:tcPr marL="38100" marR="381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1111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38100" marR="38100" marT="28575" marB="28575" anchor="ctr"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38100" marR="38100" marT="28575" marB="28575" anchor="ctr">
                    <a:solidFill>
                      <a:srgbClr val="083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experiment_ii blank">
            <a:extLst>
              <a:ext uri="{FF2B5EF4-FFF2-40B4-BE49-F238E27FC236}">
                <a16:creationId xmlns:a16="http://schemas.microsoft.com/office/drawing/2014/main" id="{153E5341-ABAD-4E61-B7BC-1F526626C060}"/>
              </a:ext>
            </a:extLst>
          </p:cNvPr>
          <p:cNvSpPr>
            <a:spLocks noGrp="1"/>
          </p:cNvSpPr>
          <p:nvPr/>
        </p:nvSpPr>
        <p:spPr>
          <a:xfrm>
            <a:off x="7524750" y="5286375"/>
            <a:ext cx="3667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74F78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>
                <a:solidFill>
                  <a:srgbClr val="174F78"/>
                </a:solidFill>
                <a:latin typeface="맑은 고딕"/>
                <a:ea typeface="맑은 고딕"/>
                <a:cs typeface="맑은 고딕"/>
              </a:rPr>
              <a:t>미첨가 정답 6/24</a:t>
            </a:r>
          </a:p>
        </p:txBody>
      </p:sp>
      <p:sp>
        <p:nvSpPr>
          <p:cNvPr id="12" name="finding">
            <a:extLst>
              <a:ext uri="{FF2B5EF4-FFF2-40B4-BE49-F238E27FC236}">
                <a16:creationId xmlns:a16="http://schemas.microsoft.com/office/drawing/2014/main" id="{6493C67D-DA6F-4BC1-B3D7-76EE3ECF5CEF}"/>
              </a:ext>
            </a:extLst>
          </p:cNvPr>
          <p:cNvSpPr>
            <a:spLocks noGrp="1"/>
          </p:cNvSpPr>
          <p:nvPr/>
        </p:nvSpPr>
        <p:spPr>
          <a:xfrm>
            <a:off x="1000125" y="5800725"/>
            <a:ext cx="1038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74F78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라벨을</a:t>
            </a:r>
            <a:r>
              <a:rPr sz="19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수정해도</a:t>
            </a:r>
            <a:r>
              <a:rPr sz="19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미첨가</a:t>
            </a:r>
            <a:r>
              <a:rPr sz="19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sample </a:t>
            </a:r>
            <a:r>
              <a:rPr sz="19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대부분을</a:t>
            </a:r>
            <a:r>
              <a:rPr sz="19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금속으로</a:t>
            </a:r>
            <a:r>
              <a:rPr sz="19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9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분류</a:t>
            </a:r>
            <a:endParaRPr sz="195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protocol">
            <a:extLst>
              <a:ext uri="{FF2B5EF4-FFF2-40B4-BE49-F238E27FC236}">
                <a16:creationId xmlns:a16="http://schemas.microsoft.com/office/drawing/2014/main" id="{261581A1-2A93-483E-A188-9FA0C3615F8B}"/>
              </a:ext>
            </a:extLst>
          </p:cNvPr>
          <p:cNvSpPr>
            <a:spLocks noGrp="1"/>
          </p:cNvSpPr>
          <p:nvPr/>
        </p:nvSpPr>
        <p:spPr>
          <a:xfrm>
            <a:off x="904875" y="62388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38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원본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RF 5-fold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설정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유지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추가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chip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분할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없음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정확도는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전체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96개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예측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각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클래스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24개.</a:t>
            </a:r>
          </a:p>
        </p:txBody>
      </p:sp>
      <p:sp>
        <p:nvSpPr>
          <p:cNvPr id="14" name="scope">
            <a:extLst>
              <a:ext uri="{FF2B5EF4-FFF2-40B4-BE49-F238E27FC236}">
                <a16:creationId xmlns:a16="http://schemas.microsoft.com/office/drawing/2014/main" id="{5EBF9B57-4C7F-4AEB-8583-29C204F1275D}"/>
              </a:ext>
            </a:extLst>
          </p:cNvPr>
          <p:cNvSpPr>
            <a:spLocks noGrp="1"/>
          </p:cNvSpPr>
          <p:nvPr/>
        </p:nvSpPr>
        <p:spPr>
          <a:xfrm>
            <a:off x="904875" y="6477000"/>
            <a:ext cx="103822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38" b="0">
                <a:solidFill>
                  <a:srgbClr val="111111"/>
                </a:solidFill>
                <a:latin typeface="맑은 고딕"/>
                <a:ea typeface="맑은 고딕"/>
                <a:cs typeface="맑은 고딕"/>
              </a:defRPr>
            </a:pP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II에는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I에서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확인한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설정을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적용했습니다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미첨가는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명목상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금속을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넣지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않은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조건을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38" b="0" dirty="0" err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뜻합니다</a:t>
            </a:r>
            <a:r>
              <a:rPr sz="1238" b="0" dirty="0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2703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6552F-9A2E-5396-1690-6460ACB8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남은 오류의 원인 가설</a:t>
            </a:r>
          </a:p>
        </p:txBody>
      </p:sp>
      <p:sp>
        <p:nvSpPr>
          <p:cNvPr id="3" name="문제 제기 흐름">
            <a:extLst>
              <a:ext uri="{FF2B5EF4-FFF2-40B4-BE49-F238E27FC236}">
                <a16:creationId xmlns:a16="http://schemas.microsoft.com/office/drawing/2014/main" id="{E1EB9976-FABF-4A2C-AD17-AD442825D2CD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10515600" cy="4238625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76200" rIns="76200" bIns="76200" anchor="t">
            <a:normAutofit/>
          </a:bodyPr>
          <a:lstStyle/>
          <a:p>
            <a:pPr>
              <a:lnSpc>
                <a:spcPct val="150000"/>
              </a:lnSpc>
              <a:spcAft>
                <a:spcPts val="380"/>
              </a:spcAft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결과의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의미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미첨가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라벨은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정답의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의미를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바로잡지만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두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모두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미첨가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금속으로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예측하는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오류가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많이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남았다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ct val="150000"/>
              </a:lnSpc>
              <a:spcAft>
                <a:spcPts val="380"/>
              </a:spcAft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Source와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라벨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각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AIC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파일은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계열에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대응한다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조제일과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시약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등의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차이가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라벨과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함께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변했을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가능성이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있다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ct val="150000"/>
              </a:lnSpc>
              <a:spcAft>
                <a:spcPts val="380"/>
              </a:spcAft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입력에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남을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정보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모델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입력은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Adjusted_Slope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수치다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파일명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문자열을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읽지는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않지만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차이가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유동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수치에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남으면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표식으로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쓰일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있다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ct val="150000"/>
              </a:lnSpc>
              <a:spcAft>
                <a:spcPts val="380"/>
              </a:spcAft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Channel과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chip 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chip의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channel들은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제조·조제·촬영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공유한다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chip이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학습과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양쪽에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있으면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패턴을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이용할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가능성이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있다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>
              <a:lnSpc>
                <a:spcPct val="150000"/>
              </a:lnSpc>
              <a:defRPr sz="16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다음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</a:t>
            </a:r>
            <a:r>
              <a:rPr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Channel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위치별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평가와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chip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전체를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제외한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평가를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비교해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공유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조건에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대한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성능의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민감도를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4" name="핵심 가설">
            <a:extLst>
              <a:ext uri="{FF2B5EF4-FFF2-40B4-BE49-F238E27FC236}">
                <a16:creationId xmlns:a16="http://schemas.microsoft.com/office/drawing/2014/main" id="{F2CFEE16-161F-4F99-928A-F62A9549D16B}"/>
              </a:ext>
            </a:extLst>
          </p:cNvPr>
          <p:cNvSpPr>
            <a:spLocks noGrp="1"/>
          </p:cNvSpPr>
          <p:nvPr/>
        </p:nvSpPr>
        <p:spPr>
          <a:xfrm>
            <a:off x="1095375" y="6000750"/>
            <a:ext cx="10001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ctr">
              <a:defRPr sz="1500" b="1">
                <a:solidFill>
                  <a:srgbClr val="12384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분할 실험은 shortcut 가능성을 진단합니다. 특정 원인이나 chip 효과를 단독으로 확정하지는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932703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9E0F8-E2CB-77D9-8B85-0AA537375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44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ko-KR" dirty="0" err="1">
                <a:solidFill>
                  <a:srgbClr val="000000"/>
                </a:solidFill>
                <a:latin typeface="맑은 고딕"/>
              </a:rPr>
              <a:t>Channel</a:t>
            </a:r>
            <a:r>
              <a:rPr lang="ko-KR" altLang="ko-KR" dirty="0">
                <a:solidFill>
                  <a:srgbClr val="000000"/>
                </a:solidFill>
                <a:latin typeface="맑은 고딕"/>
              </a:rPr>
              <a:t> 분할과 </a:t>
            </a:r>
            <a:r>
              <a:rPr lang="ko-KR" altLang="ko-KR" dirty="0" err="1">
                <a:solidFill>
                  <a:srgbClr val="000000"/>
                </a:solidFill>
                <a:latin typeface="맑은 고딕"/>
              </a:rPr>
              <a:t>Chip</a:t>
            </a:r>
            <a:r>
              <a:rPr lang="ko-KR" altLang="ko-KR" dirty="0">
                <a:solidFill>
                  <a:srgbClr val="000000"/>
                </a:solidFill>
                <a:latin typeface="맑은 고딕"/>
              </a:rPr>
              <a:t> 분할의 성능 비교</a:t>
            </a:r>
            <a:endParaRPr dirty="0"/>
          </a:p>
        </p:txBody>
      </p:sp>
      <p:sp>
        <p:nvSpPr>
          <p:cNvPr id="3" name="분할 실험 조건">
            <a:extLst>
              <a:ext uri="{FF2B5EF4-FFF2-40B4-BE49-F238E27FC236}">
                <a16:creationId xmlns:a16="http://schemas.microsoft.com/office/drawing/2014/main" id="{06EF1D8D-C77C-4B77-9545-D9B97E9E8ACC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92094"/>
          </a:bodyPr>
          <a:lstStyle/>
          <a:p>
            <a:pPr algn="l">
              <a:defRPr sz="1388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별도 분할 진단: 양성 72개와 고정 RBF SVM(C=1)에서 Channel 4-fold와 Chip 2-fold를 비교했습니다. 아래는 각 분할의 한 평가 예시입니다.</a:t>
            </a:r>
          </a:p>
        </p:txBody>
      </p:sp>
      <p:graphicFrame>
        <p:nvGraphicFramePr>
          <p:cNvPr id="14" name="표 13"/>
          <p:cNvGraphicFramePr/>
          <p:nvPr>
            <p:extLst>
              <p:ext uri="{D42A27DB-BD31-4B8C-83A1-F6EECF244321}">
                <p14:modId xmlns:p14="http://schemas.microsoft.com/office/powerpoint/2010/main" val="3637482193"/>
              </p:ext>
            </p:extLst>
          </p:nvPr>
        </p:nvGraphicFramePr>
        <p:xfrm>
          <a:off x="838200" y="2190750"/>
          <a:ext cx="4581293" cy="1428750"/>
        </p:xfrm>
        <a:graphic>
          <a:graphicData uri="http://schemas.openxmlformats.org/drawingml/2006/table">
            <a:tbl>
              <a:tblPr/>
              <a:tblGrid>
                <a:gridCol w="1171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7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3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분할</a:t>
                      </a:r>
                      <a:r>
                        <a:rPr sz="13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</a:t>
                      </a:r>
                      <a:r>
                        <a:rPr sz="135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  <a:endParaRPr sz="135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anchor="ctr">
                    <a:solidFill>
                      <a:srgbClr val="176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channel</a:t>
                      </a:r>
                    </a:p>
                  </a:txBody>
                  <a:tcPr anchor="ctr">
                    <a:solidFill>
                      <a:srgbClr val="176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channel</a:t>
                      </a:r>
                    </a:p>
                  </a:txBody>
                  <a:tcPr anchor="ctr">
                    <a:solidFill>
                      <a:srgbClr val="176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13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Channel-position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13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1, 2, 3, 5, 6, 7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13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0, 4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13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Chip-slot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13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4, 5, 6, 7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13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0, 1, 2, 3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BA 결과 제목">
            <a:extLst>
              <a:ext uri="{FF2B5EF4-FFF2-40B4-BE49-F238E27FC236}">
                <a16:creationId xmlns:a16="http://schemas.microsoft.com/office/drawing/2014/main" id="{59B8906B-883E-4CCB-A856-0B491B427265}"/>
              </a:ext>
            </a:extLst>
          </p:cNvPr>
          <p:cNvSpPr>
            <a:spLocks noGrp="1"/>
          </p:cNvSpPr>
          <p:nvPr/>
        </p:nvSpPr>
        <p:spPr>
          <a:xfrm>
            <a:off x="6391275" y="1866900"/>
            <a:ext cx="3381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 fontScale="87719"/>
          </a:bodyPr>
          <a:lstStyle/>
          <a:p>
            <a:pPr algn="ctr">
              <a:defRPr sz="1425" b="1">
                <a:solidFill>
                  <a:srgbClr val="12384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BA </a:t>
            </a:r>
            <a:r>
              <a:rPr sz="1425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결과</a:t>
            </a:r>
            <a:endParaRPr sz="1425" b="1" dirty="0">
              <a:solidFill>
                <a:srgbClr val="12384A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16" name="표 15"/>
          <p:cNvGraphicFramePr/>
          <p:nvPr>
            <p:extLst>
              <p:ext uri="{D42A27DB-BD31-4B8C-83A1-F6EECF244321}">
                <p14:modId xmlns:p14="http://schemas.microsoft.com/office/powerpoint/2010/main" val="1378840013"/>
              </p:ext>
            </p:extLst>
          </p:nvPr>
        </p:nvGraphicFramePr>
        <p:xfrm>
          <a:off x="6096000" y="2190750"/>
          <a:ext cx="3971926" cy="1428750"/>
        </p:xfrm>
        <a:graphic>
          <a:graphicData uri="http://schemas.openxmlformats.org/drawingml/2006/table">
            <a:tbl>
              <a:tblPr/>
              <a:tblGrid>
                <a:gridCol w="1622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분할</a:t>
                      </a:r>
                    </a:p>
                  </a:txBody>
                  <a:tcPr anchor="ctr">
                    <a:solidFill>
                      <a:srgbClr val="176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Exp I</a:t>
                      </a:r>
                    </a:p>
                  </a:txBody>
                  <a:tcPr anchor="ctr">
                    <a:solidFill>
                      <a:srgbClr val="176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Exp II</a:t>
                      </a:r>
                    </a:p>
                  </a:txBody>
                  <a:tcPr anchor="ctr">
                    <a:solidFill>
                      <a:srgbClr val="176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13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Channel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13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97.2%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13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313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Chip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13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41.7%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13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41.7%</a:t>
                      </a:r>
                    </a:p>
                  </a:txBody>
                  <a:tcPr anchor="ctr">
                    <a:solidFill>
                      <a:srgbClr val="D9DE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Channel 설명">
            <a:extLst>
              <a:ext uri="{FF2B5EF4-FFF2-40B4-BE49-F238E27FC236}">
                <a16:creationId xmlns:a16="http://schemas.microsoft.com/office/drawing/2014/main" id="{39DBA5F7-5EDC-49C9-856C-9DA0EE064129}"/>
              </a:ext>
            </a:extLst>
          </p:cNvPr>
          <p:cNvSpPr>
            <a:spLocks noGrp="1"/>
          </p:cNvSpPr>
          <p:nvPr/>
        </p:nvSpPr>
        <p:spPr>
          <a:xfrm>
            <a:off x="838200" y="3857625"/>
            <a:ext cx="500062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>
              <a:def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Channel-position split</a:t>
            </a: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 묶음은 [0,4], [1,5], [2,6], [3,7]의 4개</a:t>
            </a: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 chip의 다른 channel이 학습과 평가 양쪽에 들어감</a:t>
            </a:r>
          </a:p>
        </p:txBody>
      </p:sp>
      <p:sp>
        <p:nvSpPr>
          <p:cNvPr id="8" name="Chip 설명">
            <a:extLst>
              <a:ext uri="{FF2B5EF4-FFF2-40B4-BE49-F238E27FC236}">
                <a16:creationId xmlns:a16="http://schemas.microsoft.com/office/drawing/2014/main" id="{5B427443-737D-4F4C-8A68-E93AAC2BC608}"/>
              </a:ext>
            </a:extLst>
          </p:cNvPr>
          <p:cNvSpPr>
            <a:spLocks noGrp="1"/>
          </p:cNvSpPr>
          <p:nvPr/>
        </p:nvSpPr>
        <p:spPr>
          <a:xfrm>
            <a:off x="6286500" y="3857625"/>
            <a:ext cx="500062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>
              <a:def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Chip-slot split</a:t>
            </a: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첫 chip [0–3]과 둘째 chip [4–7]을 번갈아 평가</a:t>
            </a: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 chip의 모든 channel을 학습에서 제외</a:t>
            </a:r>
          </a:p>
        </p:txBody>
      </p:sp>
      <p:sp>
        <p:nvSpPr>
          <p:cNvPr id="9" name="분할 결과 해석">
            <a:extLst>
              <a:ext uri="{FF2B5EF4-FFF2-40B4-BE49-F238E27FC236}">
                <a16:creationId xmlns:a16="http://schemas.microsoft.com/office/drawing/2014/main" id="{098C3677-6891-4EBA-9E0B-5C55EB1D2D8C}"/>
              </a:ext>
            </a:extLst>
          </p:cNvPr>
          <p:cNvSpPr>
            <a:spLocks noGrp="1"/>
          </p:cNvSpPr>
          <p:nvPr/>
        </p:nvSpPr>
        <p:spPr>
          <a:xfrm>
            <a:off x="1047750" y="5238750"/>
            <a:ext cx="1009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ctr">
              <a:defRPr sz="1500" b="1">
                <a:solidFill>
                  <a:srgbClr val="12384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Chip을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분리한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평가에서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BA가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 41.7%로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낮아져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분할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조건에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대한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성능의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민감도를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보</a:t>
            </a:r>
            <a:r>
              <a:rPr lang="ko-KR" altLang="en-US"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임</a:t>
            </a:r>
            <a:r>
              <a:rPr sz="1500" b="1" dirty="0">
                <a:solidFill>
                  <a:srgbClr val="12384A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0587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">
            <a:extLst>
              <a:ext uri="{FF2B5EF4-FFF2-40B4-BE49-F238E27FC236}">
                <a16:creationId xmlns:a16="http://schemas.microsoft.com/office/drawing/2014/main" id="{07CFAA80-C578-402C-9156-81B3DF1EC7F4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1325594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4-class의 분할 민감도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9064" y="1381125"/>
            <a:ext cx="5433371" cy="5381625"/>
          </a:xfrm>
          <a:prstGeom prst="rect">
            <a:avLst/>
          </a:prstGeom>
        </p:spPr>
      </p:pic>
      <p:sp>
        <p:nvSpPr>
          <p:cNvPr id="3" name="그림5 요약">
            <a:extLst>
              <a:ext uri="{FF2B5EF4-FFF2-40B4-BE49-F238E27FC236}">
                <a16:creationId xmlns:a16="http://schemas.microsoft.com/office/drawing/2014/main" id="{65C2F9FD-2396-465D-AD35-7F1DDE50414E}"/>
              </a:ext>
            </a:extLst>
          </p:cNvPr>
          <p:cNvSpPr>
            <a:spLocks noGrp="1"/>
          </p:cNvSpPr>
          <p:nvPr/>
        </p:nvSpPr>
        <p:spPr>
          <a:xfrm>
            <a:off x="7810500" y="1809750"/>
            <a:ext cx="352425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 미첨가 라벨에서 분할 진단</a:t>
            </a: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고정 SVM(C=1), 96개 sample의 4-class 분류</a:t>
            </a: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앞의 RF 5-fold 라벨 수정 실험과는 별도 평가</a:t>
            </a: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Channel 4-fold BA: I 64.6%, II 77.1%
미첨가 정답: I 5/24, II 2/24</a:t>
            </a: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88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Chip 2-fold BA: I 29.2%, II 26.0%</a:t>
            </a:r>
          </a:p>
        </p:txBody>
      </p:sp>
    </p:spTree>
    <p:extLst>
      <p:ext uri="{BB962C8B-B14F-4D97-AF65-F5344CB8AC3E}">
        <p14:creationId xmlns:p14="http://schemas.microsoft.com/office/powerpoint/2010/main" val="1668295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">
            <a:extLst>
              <a:ext uri="{FF2B5EF4-FFF2-40B4-BE49-F238E27FC236}">
                <a16:creationId xmlns:a16="http://schemas.microsoft.com/office/drawing/2014/main" id="{3F5B0CD0-063D-4F80-995F-85D96ED57C48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1325594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440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Binary and two stage experiments</a:t>
            </a:r>
            <a:endParaRPr sz="4400" b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5232" y="1476375"/>
            <a:ext cx="9021536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2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">
            <a:extLst>
              <a:ext uri="{FF2B5EF4-FFF2-40B4-BE49-F238E27FC236}">
                <a16:creationId xmlns:a16="http://schemas.microsoft.com/office/drawing/2014/main" id="{975AD863-4049-453E-ADE0-126CA3C927AD}"/>
              </a:ext>
            </a:extLst>
          </p:cNvPr>
          <p:cNvSpPr>
            <a:spLocks noGrp="1"/>
          </p:cNvSpPr>
          <p:nvPr/>
        </p:nvSpPr>
        <p:spPr>
          <a:xfrm>
            <a:off x="838200" y="365093"/>
            <a:ext cx="10515600" cy="1325594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ctr">
            <a:normAutofit/>
          </a:bodyPr>
          <a:lstStyle/>
          <a:p>
            <a:pPr algn="l">
              <a:defRPr sz="44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440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현재</a:t>
            </a:r>
            <a:r>
              <a:rPr sz="4400" b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4400" b="0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  <a:endParaRPr sz="4400" b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" name="현재 결론">
            <a:extLst>
              <a:ext uri="{FF2B5EF4-FFF2-40B4-BE49-F238E27FC236}">
                <a16:creationId xmlns:a16="http://schemas.microsoft.com/office/drawing/2014/main" id="{0BACFB0D-C1C1-4482-A4C6-3A4D0793D098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8160834" cy="3905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현재</a:t>
            </a:r>
            <a:r>
              <a:rPr sz="1725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결론</a:t>
            </a:r>
            <a:endParaRPr sz="1725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0농도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관측에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금속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종류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label을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준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의미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오류는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확인됨</a:t>
            </a:r>
            <a:endParaRPr sz="1725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Zero-control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분류와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chip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분할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민감도는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shortcut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위험을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강하게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시사</a:t>
            </a:r>
            <a:endParaRPr sz="1725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구체적인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원인과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genuine metal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response의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기여율은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아직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확인할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없음</a:t>
            </a:r>
            <a:endParaRPr sz="1725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41300" indent="-127000">
              <a:spcBef>
                <a:spcPts val="240"/>
              </a:spcBef>
              <a:spcAft>
                <a:spcPts val="180"/>
              </a:spcAft>
              <a:buChar char="•"/>
              <a:defRPr sz="17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현재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점수는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archive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내부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pattern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구분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결과로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제한해</a:t>
            </a:r>
            <a:r>
              <a:rPr sz="1725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725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해석</a:t>
            </a:r>
            <a:endParaRPr sz="1725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60788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</TotalTime>
  <Words>1927</Words>
  <Application>Microsoft Macintosh PowerPoint</Application>
  <DocSecurity>0</DocSecurity>
  <PresentationFormat>와이드스크린</PresentationFormat>
  <Paragraphs>319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AIC 중금속 분류 점검</vt:lpstr>
      <vt:lpstr>실험 코드 재구성</vt:lpstr>
      <vt:lpstr>Notebook에서 공개 프로젝트로</vt:lpstr>
      <vt:lpstr>데이터 생성 과정</vt:lpstr>
      <vt:lpstr>Experiment I·II 데이터 구성</vt:lpstr>
      <vt:lpstr>AIC 열의 의미</vt:lpstr>
      <vt:lpstr>Experiment I·II 당시 분석 결과</vt:lpstr>
      <vt:lpstr>Experiment II의 원래 분류 결과</vt:lpstr>
      <vt:lpstr>100% 성능에서 제기한 질문</vt:lpstr>
      <vt:lpstr>0 concentration only experiment</vt:lpstr>
      <vt:lpstr>0 concentration labelling experiment</vt:lpstr>
      <vt:lpstr>남은 오류의 원인 가설</vt:lpstr>
      <vt:lpstr>Channel 분할과 Chip 분할의 성능 비교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이성헌(인공지능대학원)</cp:lastModifiedBy>
  <cp:revision>4</cp:revision>
  <dcterms:created xsi:type="dcterms:W3CDTF">2026-09-14T01:06:05Z</dcterms:created>
  <dcterms:modified xsi:type="dcterms:W3CDTF">2026-09-15T03:27:15Z</dcterms:modified>
</cp:coreProperties>
</file>