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77" r:id="rId3"/>
    <p:sldId id="276" r:id="rId4"/>
    <p:sldId id="262" r:id="rId5"/>
    <p:sldId id="270" r:id="rId6"/>
    <p:sldId id="279" r:id="rId7"/>
    <p:sldId id="278" r:id="rId8"/>
    <p:sldId id="274" r:id="rId9"/>
    <p:sldId id="284" r:id="rId10"/>
    <p:sldId id="285" r:id="rId11"/>
    <p:sldId id="280" r:id="rId12"/>
    <p:sldId id="264" r:id="rId13"/>
    <p:sldId id="286" r:id="rId14"/>
    <p:sldId id="287" r:id="rId15"/>
    <p:sldId id="293" r:id="rId16"/>
    <p:sldId id="294" r:id="rId17"/>
    <p:sldId id="295" r:id="rId18"/>
    <p:sldId id="288" r:id="rId19"/>
    <p:sldId id="296" r:id="rId20"/>
    <p:sldId id="297" r:id="rId21"/>
    <p:sldId id="298" r:id="rId22"/>
    <p:sldId id="299" r:id="rId23"/>
    <p:sldId id="292" r:id="rId24"/>
    <p:sldId id="266" r:id="rId25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536C"/>
    <a:srgbClr val="EB6834"/>
    <a:srgbClr val="EBF9F9"/>
    <a:srgbClr val="295572"/>
    <a:srgbClr val="FFFFFF"/>
    <a:srgbClr val="CC6600"/>
    <a:srgbClr val="2B556F"/>
    <a:srgbClr val="2A536F"/>
    <a:srgbClr val="28506A"/>
    <a:srgbClr val="6679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8" autoAdjust="0"/>
    <p:restoredTop sz="96265" autoAdjust="0"/>
  </p:normalViewPr>
  <p:slideViewPr>
    <p:cSldViewPr snapToGrid="0" snapToObjects="1">
      <p:cViewPr varScale="1">
        <p:scale>
          <a:sx n="63" d="100"/>
          <a:sy n="63" d="100"/>
        </p:scale>
        <p:origin x="78" y="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EEKULWIMONMAS(환경공학부)" userId="3e40a25c-5dd8-4cfd-95c0-6029b7bd257e" providerId="ADAL" clId="{D43D9F03-87B2-46E8-9C6C-AEC6CDDDD6A9}"/>
    <pc:docChg chg="custSel modSld">
      <pc:chgData name="AREEKULWIMONMAS(환경공학부)" userId="3e40a25c-5dd8-4cfd-95c0-6029b7bd257e" providerId="ADAL" clId="{D43D9F03-87B2-46E8-9C6C-AEC6CDDDD6A9}" dt="2026-09-02T10:10:10.415" v="1" actId="1076"/>
      <pc:docMkLst>
        <pc:docMk/>
      </pc:docMkLst>
      <pc:sldChg chg="delSp modSp mod delAnim">
        <pc:chgData name="AREEKULWIMONMAS(환경공학부)" userId="3e40a25c-5dd8-4cfd-95c0-6029b7bd257e" providerId="ADAL" clId="{D43D9F03-87B2-46E8-9C6C-AEC6CDDDD6A9}" dt="2026-09-02T10:10:10.415" v="1" actId="1076"/>
        <pc:sldMkLst>
          <pc:docMk/>
          <pc:sldMk cId="3861169155" sldId="277"/>
        </pc:sldMkLst>
        <pc:picChg chg="del">
          <ac:chgData name="AREEKULWIMONMAS(환경공학부)" userId="3e40a25c-5dd8-4cfd-95c0-6029b7bd257e" providerId="ADAL" clId="{D43D9F03-87B2-46E8-9C6C-AEC6CDDDD6A9}" dt="2026-09-02T10:10:04.721" v="0" actId="478"/>
          <ac:picMkLst>
            <pc:docMk/>
            <pc:sldMk cId="3861169155" sldId="277"/>
            <ac:picMk id="3" creationId="{98E9B95C-A729-4C3C-94AA-2B5FCC36BB40}"/>
          </ac:picMkLst>
        </pc:picChg>
        <pc:picChg chg="mod">
          <ac:chgData name="AREEKULWIMONMAS(환경공학부)" userId="3e40a25c-5dd8-4cfd-95c0-6029b7bd257e" providerId="ADAL" clId="{D43D9F03-87B2-46E8-9C6C-AEC6CDDDD6A9}" dt="2026-09-02T10:10:10.415" v="1" actId="1076"/>
          <ac:picMkLst>
            <pc:docMk/>
            <pc:sldMk cId="3861169155" sldId="277"/>
            <ac:picMk id="4" creationId="{1CD24B36-B08C-EA4E-B0DC-DA7D45B1EE8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619092-2AD0-B84C-ABA8-701142FAF763}" type="datetimeFigureOut">
              <a:rPr lang="en-TH" smtClean="0"/>
              <a:t>09/02/2026</a:t>
            </a:fld>
            <a:endParaRPr lang="en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DB79E-1627-3848-AFC7-4051344AE88B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776324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</a:t>
            </a:r>
            <a:r>
              <a:rPr lang="en-TH" dirty="0"/>
              <a:t>isual 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DB79E-1627-3848-AFC7-4051344AE88B}" type="slidenum">
              <a:rPr lang="en-TH" smtClean="0"/>
              <a:t>1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93626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DB79E-1627-3848-AFC7-4051344AE88B}" type="slidenum">
              <a:rPr lang="en-TH" smtClean="0"/>
              <a:t>2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282668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DB79E-1627-3848-AFC7-4051344AE88B}" type="slidenum">
              <a:rPr lang="en-TH" smtClean="0"/>
              <a:t>3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293930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DB79E-1627-3848-AFC7-4051344AE88B}" type="slidenum">
              <a:rPr lang="en-TH" smtClean="0"/>
              <a:t>4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113884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DB79E-1627-3848-AFC7-4051344AE88B}" type="slidenum">
              <a:rPr lang="en-TH" smtClean="0"/>
              <a:t>5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012026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DB79E-1627-3848-AFC7-4051344AE88B}" type="slidenum">
              <a:rPr lang="en-TH" smtClean="0"/>
              <a:t>7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982533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DB79E-1627-3848-AFC7-4051344AE88B}" type="slidenum">
              <a:rPr lang="en-TH" smtClean="0"/>
              <a:t>12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371773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DB79E-1627-3848-AFC7-4051344AE88B}" type="slidenum">
              <a:rPr lang="en-TH" smtClean="0"/>
              <a:t>13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2675551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DB79E-1627-3848-AFC7-4051344AE88B}" type="slidenum">
              <a:rPr lang="en-TH" smtClean="0"/>
              <a:t>21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8429897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DB79E-1627-3848-AFC7-4051344AE88B}" type="slidenum">
              <a:rPr lang="en-TH" smtClean="0"/>
              <a:t>22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7635901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DB79E-1627-3848-AFC7-4051344AE88B}" type="slidenum">
              <a:rPr lang="en-TH" smtClean="0"/>
              <a:t>23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701311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71D31-F870-FB41-99B5-50B5A0058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D453CF-EA9A-1B4C-8C09-154913A1D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81091-ED01-1F4E-84C2-873521916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2C8D-2576-B94A-A601-A52DC5CDF3AD}" type="datetimeFigureOut">
              <a:rPr lang="en-TH" smtClean="0"/>
              <a:t>09/02/2026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4E65B-BAA1-944B-943A-12961E83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4EA73-3492-FC48-8F5D-0AED1F16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8E7A-DAAF-1244-8BE5-1C3030A31441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07493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AD634-2762-1D44-B466-2AE002D3C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CADB7-8F06-F84E-B229-E2F367C34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A00-5E87-B541-9DF2-4DD8441E3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2C8D-2576-B94A-A601-A52DC5CDF3AD}" type="datetimeFigureOut">
              <a:rPr lang="en-TH" smtClean="0"/>
              <a:t>09/02/2026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4F011-E37F-F548-A507-59540924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9B3A4-50C3-B84D-9E19-9FBCF862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8E7A-DAAF-1244-8BE5-1C3030A31441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914875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BEA30-8C96-3D46-AD11-D2000196F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AB24B-40E3-AA45-A0BD-4BDCA5DB1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022E5-A0EA-EF48-BB9E-54880B5C7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2C8D-2576-B94A-A601-A52DC5CDF3AD}" type="datetimeFigureOut">
              <a:rPr lang="en-TH" smtClean="0"/>
              <a:t>09/02/2026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DDDB7-1BA2-2545-9189-62682BC4A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A7387-7929-E449-BF35-4D73097C3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8E7A-DAAF-1244-8BE5-1C3030A31441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832762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1D8BD-A0B8-2646-B991-38971737C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40DE-3EE6-544A-92EE-5200D0F05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6C0861-6594-6E47-945A-C58639601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6F628-6587-2F4D-8AFD-92F058E6E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2C8D-2576-B94A-A601-A52DC5CDF3AD}" type="datetimeFigureOut">
              <a:rPr lang="en-TH" smtClean="0"/>
              <a:t>09/02/2026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D393A-4AA3-A141-BADD-EFE514528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25F79-4692-3E46-8B5B-2E8BC7664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8E7A-DAAF-1244-8BE5-1C3030A31441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38788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9CF3E-47FD-3D4E-AAC4-00DD6C71D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68703-35DC-3A4E-A4EB-AEA14FC3A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B05FB-FCF4-CA4C-8383-413D63FC2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D6712F-FE64-CE43-9A5E-56335AF0D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F40784-E9A3-504A-8498-EA33F3DC24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82EC14-E04B-0F46-B0C6-72BF146E7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2C8D-2576-B94A-A601-A52DC5CDF3AD}" type="datetimeFigureOut">
              <a:rPr lang="en-TH" smtClean="0"/>
              <a:t>09/02/2026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C92212-2AAB-E343-ADCA-CC1F52248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F05EB1-138B-004E-998C-95835E88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8E7A-DAAF-1244-8BE5-1C3030A31441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54929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80C87-1B94-A344-BFD5-714594D13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0F37C5-83D9-154A-9FE6-3580BBD50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2C8D-2576-B94A-A601-A52DC5CDF3AD}" type="datetimeFigureOut">
              <a:rPr lang="en-TH" smtClean="0"/>
              <a:t>09/02/2026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11BB5-FC29-B443-BFF0-862FF01F3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5BCE6-8333-E84F-939E-D4AFE7E7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8E7A-DAAF-1244-8BE5-1C3030A31441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504670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440C70-8A2F-6D41-8DEC-FADA458C1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2C8D-2576-B94A-A601-A52DC5CDF3AD}" type="datetimeFigureOut">
              <a:rPr lang="en-TH" smtClean="0"/>
              <a:t>09/02/2026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A7D1A3-67CC-FB42-B725-291407305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C8102-F867-084A-ADE8-A76FB925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8E7A-DAAF-1244-8BE5-1C3030A31441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808107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18BB-0A33-C344-A209-41F865AB2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EACF3-FD25-8F44-AE6A-C27C50D86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9D8B5-8C64-6A4C-8ECA-D3295BCE6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405E0-3634-1945-AB80-98657ED6A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2C8D-2576-B94A-A601-A52DC5CDF3AD}" type="datetimeFigureOut">
              <a:rPr lang="en-TH" smtClean="0"/>
              <a:t>09/02/2026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ED6A4-9B07-5242-83B2-3AAF6195B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A50E8-8694-D64E-9BBA-1B53CC9E9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8E7A-DAAF-1244-8BE5-1C3030A31441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5872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A6702-30C3-C44F-A0BC-6679FF9E2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EF745B-F822-0145-8DE1-04AD4D7207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4A6548-50F9-2C48-83C7-1CE75AD20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1E855-ADB9-A345-91BE-2E4CC8975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2C8D-2576-B94A-A601-A52DC5CDF3AD}" type="datetimeFigureOut">
              <a:rPr lang="en-TH" smtClean="0"/>
              <a:t>09/02/2026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E4E25-DC66-C542-9D80-65D9814C4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C17CB-CADD-794E-892B-B46FB5DA3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8E7A-DAAF-1244-8BE5-1C3030A31441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49809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839C9-B0F9-AE4C-AB7B-D41FF5EA0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D27627-891F-8A4C-BEE5-1AEED921D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4B4E7-1235-3D47-A9B1-9367D19D0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2C8D-2576-B94A-A601-A52DC5CDF3AD}" type="datetimeFigureOut">
              <a:rPr lang="en-TH" smtClean="0"/>
              <a:t>09/02/2026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B4244-4340-3046-834D-B56B4A756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498E9-977F-CE4C-8402-61B8E2BC4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8E7A-DAAF-1244-8BE5-1C3030A31441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17305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DAD9B4-E190-F143-9123-A4B1A5332D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20594C-C8E7-F740-A685-1B6CD8C55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5BFD4-4328-F341-9C42-74EFE9D38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2C8D-2576-B94A-A601-A52DC5CDF3AD}" type="datetimeFigureOut">
              <a:rPr lang="en-TH" smtClean="0"/>
              <a:t>09/02/2026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ECEA3-45CA-3743-A93B-190E40593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A5E59-863C-754E-962F-A30A2F6C8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48E7A-DAAF-1244-8BE5-1C3030A31441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22501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2C48A4-2105-6246-9D96-64F1A9414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5D275-FCC3-1A4F-BD77-4A0795DE1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F4678-54F5-C64B-A5A7-22D8ABFCF6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812C8D-2576-B94A-A601-A52DC5CDF3AD}" type="datetimeFigureOut">
              <a:rPr lang="en-TH" smtClean="0"/>
              <a:t>09/02/2026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B4666-5FD9-B443-8DF9-F6EE9E690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CE294-B91B-714A-9BE1-35891B5835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48E7A-DAAF-1244-8BE5-1C3030A31441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90514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E160-8038-B144-BEEB-051D8DD5E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99951"/>
            <a:ext cx="7772400" cy="2387600"/>
          </a:xfrm>
        </p:spPr>
        <p:txBody>
          <a:bodyPr>
            <a:normAutofit fontScale="90000"/>
          </a:bodyPr>
          <a:lstStyle/>
          <a:p>
            <a:r>
              <a:rPr lang="en-TH" sz="4800" b="1" dirty="0">
                <a:latin typeface="Consolas" panose="020B0609020204030204" pitchFamily="49" charset="0"/>
              </a:rPr>
              <a:t>Paper Microfluidic Detection of Heavy Metal Using Biopolymers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E337D6-36A3-A146-9DC0-D4DEFF117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388" y="4077447"/>
            <a:ext cx="7207623" cy="1655762"/>
          </a:xfrm>
        </p:spPr>
        <p:txBody>
          <a:bodyPr>
            <a:normAutofit/>
          </a:bodyPr>
          <a:lstStyle/>
          <a:p>
            <a:endParaRPr lang="en-TH" dirty="0">
              <a:latin typeface="+mj-lt"/>
            </a:endParaRPr>
          </a:p>
          <a:p>
            <a:r>
              <a:rPr lang="en-TH" sz="2000" b="1" dirty="0"/>
              <a:t>Wimonmas Areekul</a:t>
            </a:r>
            <a:endParaRPr lang="en-GB" sz="2000" b="1" dirty="0"/>
          </a:p>
          <a:p>
            <a:r>
              <a:rPr lang="en-GB" sz="1600" dirty="0"/>
              <a:t>Laboratory of Biological, Biomimetic, Eco-friendly Materials</a:t>
            </a:r>
            <a:endParaRPr lang="en-TH" sz="1600" dirty="0"/>
          </a:p>
          <a:p>
            <a:r>
              <a:rPr lang="en-TH" sz="1600" dirty="0"/>
              <a:t>Division of Environmental Science and Engineering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227E74-4C53-4A57-95DE-5AAA65D6B7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0" y="0"/>
            <a:ext cx="44196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475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183DA95-28C8-6A4A-ABAF-B2F56A0C799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25158"/>
          </a:xfrm>
          <a:prstGeom prst="rect">
            <a:avLst/>
          </a:prstGeom>
          <a:solidFill>
            <a:srgbClr val="295572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TH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Introduction: </a:t>
            </a:r>
            <a:r>
              <a:rPr lang="en-TH" b="1" dirty="0">
                <a:solidFill>
                  <a:schemeClr val="bg1"/>
                </a:solidFill>
                <a:latin typeface="Consolas" panose="020B0609020204030204" pitchFamily="49" charset="0"/>
              </a:rPr>
              <a:t>SALSA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D24B36-B08C-EA4E-B0DC-DA7D45B1EE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" r="26"/>
          <a:stretch/>
        </p:blipFill>
        <p:spPr>
          <a:xfrm>
            <a:off x="1789664" y="1871095"/>
            <a:ext cx="3309812" cy="47099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631E402-558A-484E-A86C-FBBCE4A25647}"/>
              </a:ext>
            </a:extLst>
          </p:cNvPr>
          <p:cNvSpPr txBox="1"/>
          <p:nvPr/>
        </p:nvSpPr>
        <p:spPr>
          <a:xfrm>
            <a:off x="7233527" y="1870097"/>
            <a:ext cx="4455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2">
                    <a:lumMod val="25000"/>
                  </a:schemeClr>
                </a:solidFill>
              </a:rPr>
              <a:t>Lucas-Washburn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CDC69983-C932-46FB-BFEC-7B65D2D40F26}"/>
                  </a:ext>
                </a:extLst>
              </p:cNvPr>
              <p:cNvSpPr/>
              <p:nvPr/>
            </p:nvSpPr>
            <p:spPr>
              <a:xfrm>
                <a:off x="7382137" y="2275801"/>
                <a:ext cx="4158716" cy="13199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𝑳</m:t>
                      </m:r>
                      <m:r>
                        <a:rPr lang="en-US" altLang="ko-KR" b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ko-KR" altLang="ko-KR" b="1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b="1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ko-KR" altLang="ko-KR" b="1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𝒕</m:t>
                              </m:r>
                              <m:r>
                                <a:rPr lang="en-US" altLang="ko-KR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ko-KR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  <m:r>
                                <a:rPr lang="en-US" altLang="ko-KR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ko-KR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𝜸</m:t>
                              </m:r>
                              <m:func>
                                <m:funcPr>
                                  <m:ctrlPr>
                                    <a:rPr lang="ko-KR" altLang="ko-KR" b="1" i="1" kern="1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ko-KR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𝒄𝒐𝒔</m:t>
                                  </m:r>
                                </m:fName>
                                <m:e>
                                  <m:r>
                                    <a:rPr lang="en-US" altLang="ko-KR" b="1" i="1" kern="1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𝜽</m:t>
                                  </m:r>
                                </m:e>
                              </m:func>
                              <m:r>
                                <a:rPr lang="en-US" altLang="ko-KR" b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US" altLang="ko-KR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  <m:r>
                                <a:rPr lang="en-US" altLang="ko-KR" b="1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𝜼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ko-KR" altLang="ko-KR" sz="1400" b="1" kern="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CDC69983-C932-46FB-BFEC-7B65D2D40F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137" y="2275801"/>
                <a:ext cx="4158716" cy="13199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FB1FA68-1D3D-42B7-9810-C373698B6D12}"/>
              </a:ext>
            </a:extLst>
          </p:cNvPr>
          <p:cNvSpPr txBox="1"/>
          <p:nvPr/>
        </p:nvSpPr>
        <p:spPr>
          <a:xfrm>
            <a:off x="8065653" y="3758323"/>
            <a:ext cx="3766663" cy="2311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cs typeface="Arial" panose="020B0604020202020204" pitchFamily="34" charset="0"/>
              </a:rPr>
              <a:t>Where	L = Flow distance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cs typeface="Arial" panose="020B0604020202020204" pitchFamily="34" charset="0"/>
              </a:rPr>
              <a:t>	t = Time 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cs typeface="Arial" panose="020B0604020202020204" pitchFamily="34" charset="0"/>
              </a:rPr>
              <a:t>	R = Capillary radius</a:t>
            </a:r>
          </a:p>
          <a:p>
            <a:pPr algn="just">
              <a:lnSpc>
                <a:spcPct val="150000"/>
              </a:lnSpc>
            </a:pPr>
            <a:r>
              <a:rPr lang="en-GB" sz="1600" dirty="0">
                <a:cs typeface="Arial" panose="020B0604020202020204" pitchFamily="34" charset="0"/>
              </a:rPr>
              <a:t>	</a:t>
            </a:r>
            <a:r>
              <a:rPr lang="el-GR" sz="1600" dirty="0">
                <a:cs typeface="Arial" panose="020B0604020202020204" pitchFamily="34" charset="0"/>
              </a:rPr>
              <a:t>γ</a:t>
            </a:r>
            <a:r>
              <a:rPr lang="en-GB" sz="1600" dirty="0">
                <a:cs typeface="Arial" panose="020B0604020202020204" pitchFamily="34" charset="0"/>
              </a:rPr>
              <a:t> = </a:t>
            </a:r>
            <a:r>
              <a:rPr lang="en-US" sz="1600" dirty="0">
                <a:cs typeface="Arial" panose="020B0604020202020204" pitchFamily="34" charset="0"/>
              </a:rPr>
              <a:t>Surface tension </a:t>
            </a:r>
          </a:p>
          <a:p>
            <a:pPr algn="just">
              <a:lnSpc>
                <a:spcPct val="150000"/>
              </a:lnSpc>
            </a:pPr>
            <a:r>
              <a:rPr lang="en-GB" sz="1600" dirty="0">
                <a:cs typeface="Arial" panose="020B0604020202020204" pitchFamily="34" charset="0"/>
              </a:rPr>
              <a:t>	</a:t>
            </a:r>
            <a:r>
              <a:rPr lang="el-GR" sz="1600" dirty="0">
                <a:cs typeface="Arial" panose="020B0604020202020204" pitchFamily="34" charset="0"/>
              </a:rPr>
              <a:t>θ</a:t>
            </a:r>
            <a:r>
              <a:rPr lang="en-GB" sz="1600" dirty="0">
                <a:cs typeface="Arial" panose="020B0604020202020204" pitchFamily="34" charset="0"/>
              </a:rPr>
              <a:t> = </a:t>
            </a:r>
            <a:r>
              <a:rPr lang="en-US" sz="1600" dirty="0">
                <a:cs typeface="Arial" panose="020B0604020202020204" pitchFamily="34" charset="0"/>
              </a:rPr>
              <a:t>Water contact angle</a:t>
            </a:r>
          </a:p>
          <a:p>
            <a:pPr algn="just">
              <a:lnSpc>
                <a:spcPct val="150000"/>
              </a:lnSpc>
            </a:pPr>
            <a:r>
              <a:rPr lang="en-GB" sz="1600" dirty="0">
                <a:cs typeface="Arial" panose="020B0604020202020204" pitchFamily="34" charset="0"/>
              </a:rPr>
              <a:t>	</a:t>
            </a:r>
            <a:r>
              <a:rPr lang="el-GR" sz="1600" dirty="0">
                <a:cs typeface="Arial" panose="020B0604020202020204" pitchFamily="34" charset="0"/>
              </a:rPr>
              <a:t>η</a:t>
            </a:r>
            <a:r>
              <a:rPr lang="en-GB" sz="1600" dirty="0">
                <a:cs typeface="Arial" panose="020B0604020202020204" pitchFamily="34" charset="0"/>
              </a:rPr>
              <a:t> = </a:t>
            </a:r>
            <a:r>
              <a:rPr lang="en-US" sz="1600" dirty="0">
                <a:cs typeface="Arial" panose="020B0604020202020204" pitchFamily="34" charset="0"/>
              </a:rPr>
              <a:t>Dynamic viscosity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A96538-3155-4556-9B95-5FB44190C829}"/>
              </a:ext>
            </a:extLst>
          </p:cNvPr>
          <p:cNvSpPr txBox="1"/>
          <p:nvPr/>
        </p:nvSpPr>
        <p:spPr>
          <a:xfrm>
            <a:off x="1024996" y="1245823"/>
            <a:ext cx="4839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2">
                    <a:lumMod val="25000"/>
                  </a:schemeClr>
                </a:solidFill>
              </a:rPr>
              <a:t>S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ystem </a:t>
            </a:r>
            <a:r>
              <a:rPr lang="en-GB" sz="2400" b="1" dirty="0">
                <a:solidFill>
                  <a:schemeClr val="bg2">
                    <a:lumMod val="25000"/>
                  </a:schemeClr>
                </a:solidFill>
              </a:rPr>
              <a:t>A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utomated </a:t>
            </a:r>
            <a:r>
              <a:rPr lang="en-GB" sz="2400" b="1" dirty="0">
                <a:solidFill>
                  <a:schemeClr val="bg2">
                    <a:lumMod val="25000"/>
                  </a:schemeClr>
                </a:solidFill>
              </a:rPr>
              <a:t>L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oading for </a:t>
            </a:r>
            <a:r>
              <a:rPr lang="en-GB" sz="2400" b="1" dirty="0">
                <a:solidFill>
                  <a:schemeClr val="bg2">
                    <a:lumMod val="25000"/>
                  </a:schemeClr>
                </a:solidFill>
              </a:rPr>
              <a:t>S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ample </a:t>
            </a:r>
            <a:r>
              <a:rPr lang="en-GB" sz="2400" b="1" dirty="0">
                <a:solidFill>
                  <a:schemeClr val="bg2">
                    <a:lumMod val="25000"/>
                  </a:schemeClr>
                </a:solidFill>
              </a:rPr>
              <a:t>A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8E8904-0529-46B5-AC0F-2C8C306E7021}"/>
              </a:ext>
            </a:extLst>
          </p:cNvPr>
          <p:cNvSpPr txBox="1"/>
          <p:nvPr/>
        </p:nvSpPr>
        <p:spPr>
          <a:xfrm>
            <a:off x="11673430" y="6581001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TH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endParaRPr lang="en-TH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16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62F5B-61EA-2943-934C-4EA1F6DAD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25158"/>
          </a:xfrm>
          <a:solidFill>
            <a:srgbClr val="295572"/>
          </a:solidFill>
          <a:ln w="12700">
            <a:solidFill>
              <a:schemeClr val="tx1"/>
            </a:solidFill>
          </a:ln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 Introduction: Literature review</a:t>
            </a:r>
            <a:endParaRPr lang="en-TH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D33AFC-C832-4D8B-B7E7-E0F6E11B5B7A}"/>
              </a:ext>
            </a:extLst>
          </p:cNvPr>
          <p:cNvSpPr txBox="1"/>
          <p:nvPr/>
        </p:nvSpPr>
        <p:spPr>
          <a:xfrm>
            <a:off x="1292081" y="1207769"/>
            <a:ext cx="32195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Paper microfluidic detection </a:t>
            </a:r>
          </a:p>
          <a:p>
            <a:pPr algn="ctr"/>
            <a:r>
              <a:rPr lang="en-US" sz="2000" b="1" dirty="0"/>
              <a:t>of PFAS* using biopolymers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D6B953-FC8D-4067-A1DB-7422DAA343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6289" y="2020711"/>
            <a:ext cx="3971149" cy="4264957"/>
          </a:xfrm>
          <a:prstGeom prst="rect">
            <a:avLst/>
          </a:prstGeom>
          <a:ln w="6350">
            <a:noFill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747D1C5-96AC-429A-8554-C08C79C2E236}"/>
              </a:ext>
            </a:extLst>
          </p:cNvPr>
          <p:cNvSpPr txBox="1"/>
          <p:nvPr/>
        </p:nvSpPr>
        <p:spPr>
          <a:xfrm>
            <a:off x="2507938" y="6315527"/>
            <a:ext cx="24677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*Per- and polyfluoroalkyl substances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3821F6-503D-4A22-8797-64C858840A37}"/>
              </a:ext>
            </a:extLst>
          </p:cNvPr>
          <p:cNvSpPr txBox="1"/>
          <p:nvPr/>
        </p:nvSpPr>
        <p:spPr>
          <a:xfrm>
            <a:off x="5246703" y="2020711"/>
            <a:ext cx="642672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Three PFAS types</a:t>
            </a:r>
            <a:r>
              <a:rPr lang="en-GB" dirty="0"/>
              <a:t> – PFOA, PFOS, </a:t>
            </a:r>
            <a:r>
              <a:rPr lang="en-GB" dirty="0" err="1"/>
              <a:t>GenX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Three machine learning models</a:t>
            </a:r>
            <a:r>
              <a:rPr lang="en-GB" dirty="0"/>
              <a:t> – </a:t>
            </a:r>
            <a:r>
              <a:rPr lang="en-GB" dirty="0" err="1"/>
              <a:t>XGBoost</a:t>
            </a:r>
            <a:r>
              <a:rPr lang="en-GB" dirty="0"/>
              <a:t>, Random Forest, SVMs (Support Vector Machine)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Reagents</a:t>
            </a:r>
            <a:r>
              <a:rPr lang="en-GB" dirty="0"/>
              <a:t> – Bovine serum albumin (BSA), </a:t>
            </a:r>
            <a:r>
              <a:rPr lang="en-GB" dirty="0" err="1"/>
              <a:t>Lysozome</a:t>
            </a:r>
            <a:r>
              <a:rPr lang="en-GB" dirty="0"/>
              <a:t>, Myoglobin, L-lysine, Glycine, Glutamine, L-aspartic acid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sz="2000" b="1" dirty="0"/>
              <a:t>Accuracies for PFAS type classification</a:t>
            </a:r>
          </a:p>
          <a:p>
            <a:endParaRPr lang="en-GB" sz="2000" b="1" dirty="0"/>
          </a:p>
          <a:p>
            <a:endParaRPr lang="en-GB" sz="2000" b="1" dirty="0"/>
          </a:p>
          <a:p>
            <a:endParaRPr lang="en-GB" sz="2000" b="1" dirty="0"/>
          </a:p>
          <a:p>
            <a:endParaRPr lang="en-GB" sz="2000" b="1" dirty="0"/>
          </a:p>
          <a:p>
            <a:endParaRPr lang="en-GB" sz="2000" b="1" dirty="0"/>
          </a:p>
          <a:p>
            <a:endParaRPr lang="en-GB" sz="2000" b="1" dirty="0"/>
          </a:p>
          <a:p>
            <a:pPr algn="ctr"/>
            <a:r>
              <a:rPr lang="en-GB" sz="2000" b="1" dirty="0">
                <a:solidFill>
                  <a:srgbClr val="C00000"/>
                </a:solidFill>
              </a:rPr>
              <a:t>However, PFAS pollution is still not </a:t>
            </a:r>
          </a:p>
          <a:p>
            <a:pPr algn="ctr"/>
            <a:r>
              <a:rPr lang="en-GB" sz="2000" b="1" dirty="0">
                <a:solidFill>
                  <a:srgbClr val="C00000"/>
                </a:solidFill>
              </a:rPr>
              <a:t>a significant problem in Thailand</a:t>
            </a: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BFB3C67B-79A5-4C59-A6DB-46E274D8F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215702"/>
              </p:ext>
            </p:extLst>
          </p:nvPr>
        </p:nvGraphicFramePr>
        <p:xfrm>
          <a:off x="5343371" y="4071065"/>
          <a:ext cx="5762594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881297">
                  <a:extLst>
                    <a:ext uri="{9D8B030D-6E8A-4147-A177-3AD203B41FA5}">
                      <a16:colId xmlns:a16="http://schemas.microsoft.com/office/drawing/2014/main" val="3524375009"/>
                    </a:ext>
                  </a:extLst>
                </a:gridCol>
                <a:gridCol w="2881297">
                  <a:extLst>
                    <a:ext uri="{9D8B030D-6E8A-4147-A177-3AD203B41FA5}">
                      <a16:colId xmlns:a16="http://schemas.microsoft.com/office/drawing/2014/main" val="18396095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53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Accuracy (%)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55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98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XGBoost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91.7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83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Random Forest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94.7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159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SVM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93.7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60318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45A289D-160C-4055-AFA7-3E64DE912CB4}"/>
              </a:ext>
            </a:extLst>
          </p:cNvPr>
          <p:cNvSpPr txBox="1"/>
          <p:nvPr/>
        </p:nvSpPr>
        <p:spPr>
          <a:xfrm>
            <a:off x="11673430" y="6581001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TH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endParaRPr lang="en-TH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436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62F5B-61EA-2943-934C-4EA1F6DAD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25158"/>
          </a:xfrm>
          <a:solidFill>
            <a:srgbClr val="295572"/>
          </a:solidFill>
          <a:ln w="12700">
            <a:solidFill>
              <a:schemeClr val="tx1"/>
            </a:solidFill>
          </a:ln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TH" b="1" dirty="0">
                <a:solidFill>
                  <a:schemeClr val="bg1"/>
                </a:solidFill>
                <a:latin typeface="Consolas" panose="020B0609020204030204" pitchFamily="49" charset="0"/>
              </a:rPr>
              <a:t>Introduction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: Motivation</a:t>
            </a:r>
            <a:endParaRPr lang="en-TH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9DA46B-B518-0A4D-8114-F24EAB021F17}"/>
              </a:ext>
            </a:extLst>
          </p:cNvPr>
          <p:cNvSpPr txBox="1"/>
          <p:nvPr/>
        </p:nvSpPr>
        <p:spPr>
          <a:xfrm>
            <a:off x="599992" y="2023657"/>
            <a:ext cx="7760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Emerging Heavy Metal Contamination in Northern Thailand</a:t>
            </a:r>
            <a:endParaRPr lang="en-TH" sz="24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AD3485-2144-2041-896C-0A9AE4AE2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895635" y="3534694"/>
            <a:ext cx="2167202" cy="1416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722DB46-655E-5547-84B8-407F2EC5F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3811251" y="3501672"/>
            <a:ext cx="2315088" cy="1448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2DC4CBA-31B5-4FE2-89B3-A1BC400F55EA}"/>
              </a:ext>
            </a:extLst>
          </p:cNvPr>
          <p:cNvCxnSpPr>
            <a:cxnSpLocks/>
          </p:cNvCxnSpPr>
          <p:nvPr/>
        </p:nvCxnSpPr>
        <p:spPr>
          <a:xfrm>
            <a:off x="684373" y="3156804"/>
            <a:ext cx="7433425" cy="1306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3A10146-30D7-4CAD-B12A-0F9DA3771F29}"/>
              </a:ext>
            </a:extLst>
          </p:cNvPr>
          <p:cNvSpPr txBox="1"/>
          <p:nvPr/>
        </p:nvSpPr>
        <p:spPr>
          <a:xfrm>
            <a:off x="1183281" y="5023421"/>
            <a:ext cx="15831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Arsenic detected</a:t>
            </a:r>
          </a:p>
          <a:p>
            <a:pPr algn="ctr"/>
            <a:r>
              <a:rPr lang="en-GB" sz="1600" dirty="0"/>
              <a:t>in Kok river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78AD37-58F4-46C1-8D45-39DA41DDF87E}"/>
              </a:ext>
            </a:extLst>
          </p:cNvPr>
          <p:cNvSpPr txBox="1"/>
          <p:nvPr/>
        </p:nvSpPr>
        <p:spPr>
          <a:xfrm>
            <a:off x="3639826" y="5023421"/>
            <a:ext cx="26538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Arsenic + Chromium detected</a:t>
            </a:r>
          </a:p>
          <a:p>
            <a:pPr algn="ctr"/>
            <a:r>
              <a:rPr lang="en-GB" sz="1600" dirty="0"/>
              <a:t>in Salawin river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954A55-28D2-4D8C-9D9E-E5C72666C28D}"/>
              </a:ext>
            </a:extLst>
          </p:cNvPr>
          <p:cNvSpPr txBox="1"/>
          <p:nvPr/>
        </p:nvSpPr>
        <p:spPr>
          <a:xfrm>
            <a:off x="1454509" y="2568397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Apr 2025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4A1145-94FE-4618-8948-D9A8DFB1D0C1}"/>
              </a:ext>
            </a:extLst>
          </p:cNvPr>
          <p:cNvSpPr txBox="1"/>
          <p:nvPr/>
        </p:nvSpPr>
        <p:spPr>
          <a:xfrm>
            <a:off x="4428936" y="2568525"/>
            <a:ext cx="1079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Nov 2025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C12E9C-68CB-4C29-B09A-F502869C95D8}"/>
              </a:ext>
            </a:extLst>
          </p:cNvPr>
          <p:cNvSpPr txBox="1"/>
          <p:nvPr/>
        </p:nvSpPr>
        <p:spPr>
          <a:xfrm>
            <a:off x="7540417" y="2589879"/>
            <a:ext cx="819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Present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C8A4AF6-2F90-495E-BE16-B0EB64A4C065}"/>
              </a:ext>
            </a:extLst>
          </p:cNvPr>
          <p:cNvSpPr/>
          <p:nvPr/>
        </p:nvSpPr>
        <p:spPr>
          <a:xfrm>
            <a:off x="1824818" y="3016845"/>
            <a:ext cx="261258" cy="26125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1C973F9-329C-471F-A413-D27A0E1F6BE5}"/>
              </a:ext>
            </a:extLst>
          </p:cNvPr>
          <p:cNvSpPr/>
          <p:nvPr/>
        </p:nvSpPr>
        <p:spPr>
          <a:xfrm>
            <a:off x="4836097" y="3038616"/>
            <a:ext cx="261258" cy="26125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28EA17-D688-4633-9766-DC5C933CA230}"/>
              </a:ext>
            </a:extLst>
          </p:cNvPr>
          <p:cNvSpPr txBox="1"/>
          <p:nvPr/>
        </p:nvSpPr>
        <p:spPr>
          <a:xfrm>
            <a:off x="5845018" y="5710277"/>
            <a:ext cx="25150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(Pollution Control Department, 2025)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3236D2C-D0E4-463E-98D5-7D3859555BCE}"/>
              </a:ext>
            </a:extLst>
          </p:cNvPr>
          <p:cNvSpPr/>
          <p:nvPr/>
        </p:nvSpPr>
        <p:spPr>
          <a:xfrm>
            <a:off x="1824818" y="3019351"/>
            <a:ext cx="261258" cy="26125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6872708-34EB-41CC-A945-8C62B1D24CCC}"/>
              </a:ext>
            </a:extLst>
          </p:cNvPr>
          <p:cNvSpPr/>
          <p:nvPr/>
        </p:nvSpPr>
        <p:spPr>
          <a:xfrm>
            <a:off x="4836097" y="3039236"/>
            <a:ext cx="261258" cy="26125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5F8B4A2E-0901-46E7-9C6B-2FE1CD805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9310307" y="1356920"/>
            <a:ext cx="1900026" cy="1077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21FAA86-59C5-45A2-B6AC-799B12CA7520}"/>
              </a:ext>
            </a:extLst>
          </p:cNvPr>
          <p:cNvSpPr txBox="1"/>
          <p:nvPr/>
        </p:nvSpPr>
        <p:spPr>
          <a:xfrm>
            <a:off x="9408194" y="2484185"/>
            <a:ext cx="17042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Infected, mutant fish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1C3885-3971-4C26-A118-6DF3E8351F66}"/>
              </a:ext>
            </a:extLst>
          </p:cNvPr>
          <p:cNvSpPr txBox="1"/>
          <p:nvPr/>
        </p:nvSpPr>
        <p:spPr>
          <a:xfrm>
            <a:off x="9666245" y="2710795"/>
            <a:ext cx="11881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(Source: </a:t>
            </a:r>
            <a:r>
              <a:rPr lang="en-GB" sz="1100" dirty="0" err="1"/>
              <a:t>ThaiPBS</a:t>
            </a:r>
            <a:r>
              <a:rPr lang="en-GB" sz="1100" dirty="0"/>
              <a:t>)</a:t>
            </a:r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650C5FE4-278F-438A-A0B8-DAE298BAC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9303020" y="3199457"/>
            <a:ext cx="1914600" cy="12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45435EF1-0679-4540-ACB6-68497423A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/>
        </p:blipFill>
        <p:spPr bwMode="auto">
          <a:xfrm>
            <a:off x="9304014" y="4475857"/>
            <a:ext cx="1913605" cy="143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498FDF9-C43E-4C46-82EF-18BD44D34244}"/>
              </a:ext>
            </a:extLst>
          </p:cNvPr>
          <p:cNvSpPr txBox="1"/>
          <p:nvPr/>
        </p:nvSpPr>
        <p:spPr>
          <a:xfrm>
            <a:off x="9526367" y="5946255"/>
            <a:ext cx="14679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Bad water quality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EEB898-199E-4143-8FAB-59ECC301FB06}"/>
              </a:ext>
            </a:extLst>
          </p:cNvPr>
          <p:cNvSpPr txBox="1"/>
          <p:nvPr/>
        </p:nvSpPr>
        <p:spPr>
          <a:xfrm>
            <a:off x="9590904" y="6156788"/>
            <a:ext cx="13388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(Source: Mongabay)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F1DB0D-CCA9-4BC4-AEB3-0D71FA845EA0}"/>
              </a:ext>
            </a:extLst>
          </p:cNvPr>
          <p:cNvSpPr txBox="1"/>
          <p:nvPr/>
        </p:nvSpPr>
        <p:spPr>
          <a:xfrm>
            <a:off x="11673430" y="6581001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TH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endParaRPr lang="en-TH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674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62F5B-61EA-2943-934C-4EA1F6DAD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25158"/>
          </a:xfrm>
          <a:solidFill>
            <a:srgbClr val="295572"/>
          </a:solidFill>
          <a:ln w="12700">
            <a:solidFill>
              <a:schemeClr val="tx1"/>
            </a:solidFill>
          </a:ln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TH" b="1" dirty="0">
                <a:solidFill>
                  <a:schemeClr val="bg1"/>
                </a:solidFill>
                <a:latin typeface="Consolas" panose="020B0609020204030204" pitchFamily="49" charset="0"/>
              </a:rPr>
              <a:t>Introduction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: Motivation</a:t>
            </a:r>
            <a:endParaRPr lang="en-TH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D33AFC-C832-4D8B-B7E7-E0F6E11B5B7A}"/>
              </a:ext>
            </a:extLst>
          </p:cNvPr>
          <p:cNvSpPr txBox="1"/>
          <p:nvPr/>
        </p:nvSpPr>
        <p:spPr>
          <a:xfrm>
            <a:off x="1352434" y="1497491"/>
            <a:ext cx="9292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u="none" strike="noStrike" dirty="0">
                <a:effectLst/>
              </a:rPr>
              <a:t>Problems of conventional methods for heavy metal detection</a:t>
            </a:r>
            <a:endParaRPr lang="en-US" sz="28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68D983-4835-48B6-97E8-CA9CAFBF7426}"/>
              </a:ext>
            </a:extLst>
          </p:cNvPr>
          <p:cNvSpPr txBox="1"/>
          <p:nvPr/>
        </p:nvSpPr>
        <p:spPr>
          <a:xfrm>
            <a:off x="2657324" y="5465059"/>
            <a:ext cx="66822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TH" sz="2000" b="1" dirty="0"/>
              <a:t>“The use of biopolymers provides </a:t>
            </a:r>
            <a:r>
              <a:rPr lang="en-TH" sz="2400" b="1" dirty="0">
                <a:solidFill>
                  <a:schemeClr val="accent6">
                    <a:lumMod val="75000"/>
                  </a:schemeClr>
                </a:solidFill>
              </a:rPr>
              <a:t>sustainable solutions</a:t>
            </a:r>
            <a:r>
              <a:rPr lang="en-TH" sz="2000" b="1" dirty="0"/>
              <a:t>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F84EE-E392-744A-AF0B-42AC94CC0371}"/>
              </a:ext>
            </a:extLst>
          </p:cNvPr>
          <p:cNvSpPr txBox="1"/>
          <p:nvPr/>
        </p:nvSpPr>
        <p:spPr>
          <a:xfrm>
            <a:off x="2251324" y="3865867"/>
            <a:ext cx="1536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High </a:t>
            </a:r>
          </a:p>
          <a:p>
            <a:pPr algn="ctr"/>
            <a:r>
              <a:rPr lang="en-US" dirty="0"/>
              <a:t>cost</a:t>
            </a:r>
            <a:endParaRPr lang="en-TH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CFA009-66E4-8D49-BD82-90009E352A73}"/>
              </a:ext>
            </a:extLst>
          </p:cNvPr>
          <p:cNvSpPr txBox="1"/>
          <p:nvPr/>
        </p:nvSpPr>
        <p:spPr>
          <a:xfrm>
            <a:off x="4204142" y="3865867"/>
            <a:ext cx="1536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Centralized</a:t>
            </a:r>
          </a:p>
          <a:p>
            <a:pPr algn="ctr"/>
            <a:r>
              <a:rPr lang="en-US" dirty="0"/>
              <a:t>laboratory</a:t>
            </a:r>
            <a:endParaRPr lang="en-TH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700282-5E8D-CF4F-8946-D5BD2111297A}"/>
              </a:ext>
            </a:extLst>
          </p:cNvPr>
          <p:cNvSpPr txBox="1"/>
          <p:nvPr/>
        </p:nvSpPr>
        <p:spPr>
          <a:xfrm>
            <a:off x="6156960" y="3865867"/>
            <a:ext cx="1536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Intensive</a:t>
            </a:r>
          </a:p>
          <a:p>
            <a:pPr algn="ctr"/>
            <a:r>
              <a:rPr lang="en-US" dirty="0"/>
              <a:t>resources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66651C-D9A8-B243-BCA9-959099E7DB72}"/>
              </a:ext>
            </a:extLst>
          </p:cNvPr>
          <p:cNvSpPr txBox="1"/>
          <p:nvPr/>
        </p:nvSpPr>
        <p:spPr>
          <a:xfrm>
            <a:off x="8109778" y="3856083"/>
            <a:ext cx="1536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Reverse</a:t>
            </a:r>
          </a:p>
          <a:p>
            <a:pPr algn="ctr"/>
            <a:r>
              <a:rPr lang="en-US" dirty="0"/>
              <a:t>contamination</a:t>
            </a:r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D4C418F0-23C5-E342-AC8E-1BB88F98F85D}"/>
              </a:ext>
            </a:extLst>
          </p:cNvPr>
          <p:cNvSpPr/>
          <p:nvPr/>
        </p:nvSpPr>
        <p:spPr>
          <a:xfrm>
            <a:off x="5864352" y="4748333"/>
            <a:ext cx="280416" cy="499872"/>
          </a:xfrm>
          <a:prstGeom prst="downArrow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11776B-FCE9-4596-ACC1-A5DE3385021A}"/>
              </a:ext>
            </a:extLst>
          </p:cNvPr>
          <p:cNvSpPr txBox="1"/>
          <p:nvPr/>
        </p:nvSpPr>
        <p:spPr>
          <a:xfrm>
            <a:off x="11673430" y="6581001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TH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endParaRPr lang="en-TH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E5F651B-40EB-4E3C-A5B5-41C4608D28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6" r="376"/>
          <a:stretch/>
        </p:blipFill>
        <p:spPr>
          <a:xfrm>
            <a:off x="2299042" y="2247822"/>
            <a:ext cx="1441392" cy="15382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9304833-20D4-4291-9C8B-C2A3050E4A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8" r="128"/>
          <a:stretch/>
        </p:blipFill>
        <p:spPr>
          <a:xfrm>
            <a:off x="4251861" y="2247822"/>
            <a:ext cx="1441391" cy="151163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4C81B2D-CEE7-4999-8922-B60D48FED8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5" r="275"/>
          <a:stretch/>
        </p:blipFill>
        <p:spPr>
          <a:xfrm>
            <a:off x="6204679" y="2211714"/>
            <a:ext cx="1441391" cy="155426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88AAF00-502B-4C36-B361-66B6007D5A0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65" r="365"/>
          <a:stretch/>
        </p:blipFill>
        <p:spPr>
          <a:xfrm>
            <a:off x="8157497" y="2237565"/>
            <a:ext cx="1441391" cy="152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34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6" grpId="0"/>
      <p:bldP spid="21" grpId="0"/>
      <p:bldP spid="26" grpId="0"/>
      <p:bldP spid="29" grpId="0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2BBD9-8550-4537-995D-BFACBBA53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38004"/>
            <a:ext cx="12192000" cy="1224471"/>
          </a:xfrm>
          <a:solidFill>
            <a:srgbClr val="295572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	Experiment 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20827-FA29-49BB-ABF3-6AAF65B9C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5420" y="4669363"/>
            <a:ext cx="10362029" cy="754894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Classification of arsenic (As), chromium (Cr) and cadmium (Cd)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using chitosan and poly-L-lysine</a:t>
            </a:r>
          </a:p>
        </p:txBody>
      </p:sp>
    </p:spTree>
    <p:extLst>
      <p:ext uri="{BB962C8B-B14F-4D97-AF65-F5344CB8AC3E}">
        <p14:creationId xmlns:p14="http://schemas.microsoft.com/office/powerpoint/2010/main" val="4015952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183DA95-28C8-6A4A-ABAF-B2F56A0C799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25158"/>
          </a:xfrm>
          <a:prstGeom prst="rect">
            <a:avLst/>
          </a:prstGeom>
          <a:solidFill>
            <a:srgbClr val="295572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 Methodology</a:t>
            </a:r>
            <a:endParaRPr lang="en-TH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7" name="Table 2">
            <a:extLst>
              <a:ext uri="{FF2B5EF4-FFF2-40B4-BE49-F238E27FC236}">
                <a16:creationId xmlns:a16="http://schemas.microsoft.com/office/drawing/2014/main" id="{708D0026-51AE-3E47-AD77-FF8883163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773694"/>
              </p:ext>
            </p:extLst>
          </p:nvPr>
        </p:nvGraphicFramePr>
        <p:xfrm>
          <a:off x="369137" y="1169966"/>
          <a:ext cx="6622789" cy="3209403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490836">
                  <a:extLst>
                    <a:ext uri="{9D8B030D-6E8A-4147-A177-3AD203B41FA5}">
                      <a16:colId xmlns:a16="http://schemas.microsoft.com/office/drawing/2014/main" val="1541226483"/>
                    </a:ext>
                  </a:extLst>
                </a:gridCol>
                <a:gridCol w="3131953">
                  <a:extLst>
                    <a:ext uri="{9D8B030D-6E8A-4147-A177-3AD203B41FA5}">
                      <a16:colId xmlns:a16="http://schemas.microsoft.com/office/drawing/2014/main" val="2492138256"/>
                    </a:ext>
                  </a:extLst>
                </a:gridCol>
              </a:tblGrid>
              <a:tr h="666529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Factor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Levels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829419145"/>
                  </a:ext>
                </a:extLst>
              </a:tr>
              <a:tr h="423111"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Heavy metal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i="0" dirty="0">
                          <a:solidFill>
                            <a:schemeClr val="tx1"/>
                          </a:solidFill>
                        </a:rPr>
                        <a:t>As, Cr, Cd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805119729"/>
                  </a:ext>
                </a:extLst>
              </a:tr>
              <a:tr h="423111"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Heavy metal concentration </a:t>
                      </a:r>
                    </a:p>
                    <a:p>
                      <a:pPr algn="l"/>
                      <a:r>
                        <a:rPr lang="en-GB" sz="1800" dirty="0"/>
                        <a:t>(ppb)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0, 1, 10, 100 (As)</a:t>
                      </a:r>
                    </a:p>
                    <a:p>
                      <a:pPr algn="l"/>
                      <a:r>
                        <a:rPr lang="en-GB" sz="1800" dirty="0"/>
                        <a:t>0, 5, 50, 500 (Cr, Cd)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047181200"/>
                  </a:ext>
                </a:extLst>
              </a:tr>
              <a:tr h="423111"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Reagent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Chitosan, Poly-L-lysine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602016150"/>
                  </a:ext>
                </a:extLst>
              </a:tr>
              <a:tr h="416492"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Reagent concentration (ppb)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0, 1, 100, 10000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733330906"/>
                  </a:ext>
                </a:extLst>
              </a:tr>
              <a:tr h="416492"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Conditions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Chitosan: 300 µM CH</a:t>
                      </a:r>
                      <a:r>
                        <a:rPr lang="en-GB" sz="1800" baseline="-25000" dirty="0"/>
                        <a:t>3</a:t>
                      </a:r>
                      <a:r>
                        <a:rPr lang="en-GB" sz="1800" dirty="0"/>
                        <a:t>COOH Poly-L-lysine: DI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19253558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6F9B35A-5D2E-2D45-BF0F-5864B1076038}"/>
              </a:ext>
            </a:extLst>
          </p:cNvPr>
          <p:cNvSpPr txBox="1"/>
          <p:nvPr/>
        </p:nvSpPr>
        <p:spPr>
          <a:xfrm>
            <a:off x="7387953" y="2279436"/>
            <a:ext cx="421394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500" b="1" dirty="0">
                <a:solidFill>
                  <a:schemeClr val="bg2">
                    <a:lumMod val="25000"/>
                  </a:schemeClr>
                </a:solidFill>
              </a:rPr>
              <a:t>Surface water quality standard for heavy metals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4B0695-3769-704C-9E53-2997A61A3D31}"/>
              </a:ext>
            </a:extLst>
          </p:cNvPr>
          <p:cNvSpPr txBox="1"/>
          <p:nvPr/>
        </p:nvSpPr>
        <p:spPr>
          <a:xfrm>
            <a:off x="2189965" y="6006039"/>
            <a:ext cx="1164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25000"/>
                  </a:schemeClr>
                </a:solidFill>
              </a:rPr>
              <a:t>Dilution </a:t>
            </a:r>
          </a:p>
          <a:p>
            <a:pPr algn="ctr"/>
            <a:r>
              <a:rPr lang="en-GB" sz="1600" dirty="0">
                <a:solidFill>
                  <a:schemeClr val="bg2">
                    <a:lumMod val="25000"/>
                  </a:schemeClr>
                </a:solidFill>
              </a:rPr>
              <a:t>preparation</a:t>
            </a:r>
          </a:p>
        </p:txBody>
      </p:sp>
      <p:sp>
        <p:nvSpPr>
          <p:cNvPr id="9" name="Arrow: Right 54">
            <a:extLst>
              <a:ext uri="{FF2B5EF4-FFF2-40B4-BE49-F238E27FC236}">
                <a16:creationId xmlns:a16="http://schemas.microsoft.com/office/drawing/2014/main" id="{A4DAE9CD-5EF9-6F45-9DCA-6D56CB5F61BF}"/>
              </a:ext>
            </a:extLst>
          </p:cNvPr>
          <p:cNvSpPr/>
          <p:nvPr/>
        </p:nvSpPr>
        <p:spPr>
          <a:xfrm>
            <a:off x="3247567" y="5121743"/>
            <a:ext cx="421825" cy="248625"/>
          </a:xfrm>
          <a:prstGeom prst="rightArrow">
            <a:avLst/>
          </a:prstGeom>
          <a:solidFill>
            <a:srgbClr val="2753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FA41EC-0D05-0140-BF88-824FE189284F}"/>
              </a:ext>
            </a:extLst>
          </p:cNvPr>
          <p:cNvSpPr txBox="1"/>
          <p:nvPr/>
        </p:nvSpPr>
        <p:spPr>
          <a:xfrm>
            <a:off x="4114387" y="6006040"/>
            <a:ext cx="7751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25000"/>
                  </a:schemeClr>
                </a:solidFill>
              </a:rPr>
              <a:t>Vortex </a:t>
            </a:r>
          </a:p>
          <a:p>
            <a:pPr algn="ctr"/>
            <a:r>
              <a:rPr lang="en-GB" sz="1600" dirty="0">
                <a:solidFill>
                  <a:schemeClr val="bg2">
                    <a:lumMod val="25000"/>
                  </a:schemeClr>
                </a:solidFill>
              </a:rPr>
              <a:t>Mixing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1E6F51-A73C-D74B-AB72-2D0AD7ED0EB1}"/>
              </a:ext>
            </a:extLst>
          </p:cNvPr>
          <p:cNvSpPr txBox="1"/>
          <p:nvPr/>
        </p:nvSpPr>
        <p:spPr>
          <a:xfrm>
            <a:off x="5562343" y="6011945"/>
            <a:ext cx="1975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25000"/>
                  </a:schemeClr>
                </a:solidFill>
              </a:rPr>
              <a:t>Paper chip loading </a:t>
            </a:r>
          </a:p>
          <a:p>
            <a:pPr algn="ctr"/>
            <a:r>
              <a:rPr lang="en-GB" sz="1600" dirty="0">
                <a:solidFill>
                  <a:schemeClr val="bg2">
                    <a:lumMod val="25000"/>
                  </a:schemeClr>
                </a:solidFill>
              </a:rPr>
              <a:t>and SALSA operation</a:t>
            </a:r>
          </a:p>
        </p:txBody>
      </p:sp>
      <p:sp>
        <p:nvSpPr>
          <p:cNvPr id="15" name="Arrow: Right 54">
            <a:extLst>
              <a:ext uri="{FF2B5EF4-FFF2-40B4-BE49-F238E27FC236}">
                <a16:creationId xmlns:a16="http://schemas.microsoft.com/office/drawing/2014/main" id="{03C4B509-6191-6140-A4E4-A7E1A0E2F739}"/>
              </a:ext>
            </a:extLst>
          </p:cNvPr>
          <p:cNvSpPr/>
          <p:nvPr/>
        </p:nvSpPr>
        <p:spPr>
          <a:xfrm>
            <a:off x="5287672" y="5098147"/>
            <a:ext cx="421825" cy="248625"/>
          </a:xfrm>
          <a:prstGeom prst="rightArrow">
            <a:avLst/>
          </a:prstGeom>
          <a:solidFill>
            <a:srgbClr val="2753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8FCD8B-CD51-F140-A102-57E9AEB1AE5B}"/>
              </a:ext>
            </a:extLst>
          </p:cNvPr>
          <p:cNvSpPr/>
          <p:nvPr/>
        </p:nvSpPr>
        <p:spPr>
          <a:xfrm>
            <a:off x="5051344" y="4945240"/>
            <a:ext cx="86580" cy="3530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9" name="Arrow: Right 54">
            <a:extLst>
              <a:ext uri="{FF2B5EF4-FFF2-40B4-BE49-F238E27FC236}">
                <a16:creationId xmlns:a16="http://schemas.microsoft.com/office/drawing/2014/main" id="{020178C5-DEDC-464A-9856-10F90803E9C9}"/>
              </a:ext>
            </a:extLst>
          </p:cNvPr>
          <p:cNvSpPr/>
          <p:nvPr/>
        </p:nvSpPr>
        <p:spPr>
          <a:xfrm>
            <a:off x="7626042" y="5118678"/>
            <a:ext cx="421825" cy="248625"/>
          </a:xfrm>
          <a:prstGeom prst="rightArrow">
            <a:avLst/>
          </a:prstGeom>
          <a:solidFill>
            <a:srgbClr val="2753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957F67-7BBB-F448-A777-BB01400B655F}"/>
              </a:ext>
            </a:extLst>
          </p:cNvPr>
          <p:cNvSpPr txBox="1"/>
          <p:nvPr/>
        </p:nvSpPr>
        <p:spPr>
          <a:xfrm>
            <a:off x="8007280" y="6005945"/>
            <a:ext cx="21445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GB" sz="1600" dirty="0">
                <a:solidFill>
                  <a:schemeClr val="bg2">
                    <a:lumMod val="25000"/>
                  </a:schemeClr>
                </a:solidFill>
              </a:rPr>
              <a:t>Flow profile analysis </a:t>
            </a:r>
            <a:br>
              <a:rPr lang="en-GB" sz="16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GB" sz="1600" dirty="0">
                <a:solidFill>
                  <a:schemeClr val="bg2">
                    <a:lumMod val="25000"/>
                  </a:schemeClr>
                </a:solidFill>
              </a:rPr>
              <a:t>+ Machine learning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198CAF9-04CA-443D-B19E-1098521CB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817035"/>
              </p:ext>
            </p:extLst>
          </p:nvPr>
        </p:nvGraphicFramePr>
        <p:xfrm>
          <a:off x="7387953" y="2662873"/>
          <a:ext cx="421395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6975">
                  <a:extLst>
                    <a:ext uri="{9D8B030D-6E8A-4147-A177-3AD203B41FA5}">
                      <a16:colId xmlns:a16="http://schemas.microsoft.com/office/drawing/2014/main" val="2504384512"/>
                    </a:ext>
                  </a:extLst>
                </a:gridCol>
                <a:gridCol w="2106975">
                  <a:extLst>
                    <a:ext uri="{9D8B030D-6E8A-4147-A177-3AD203B41FA5}">
                      <a16:colId xmlns:a16="http://schemas.microsoft.com/office/drawing/2014/main" val="4146185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Heavy metal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Concentration (ppb)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694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Arsenic (As)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185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Chromium (Cr)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577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Cadmium (Cd)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657130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78CABA47-194A-40A1-B330-5EFBD9738E15}"/>
              </a:ext>
            </a:extLst>
          </p:cNvPr>
          <p:cNvSpPr txBox="1"/>
          <p:nvPr/>
        </p:nvSpPr>
        <p:spPr>
          <a:xfrm>
            <a:off x="11673430" y="6581001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TH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endParaRPr lang="en-TH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DC5301D-A25A-4784-87D9-762CB617BD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1" b="331"/>
          <a:stretch/>
        </p:blipFill>
        <p:spPr>
          <a:xfrm>
            <a:off x="2306383" y="4471937"/>
            <a:ext cx="669452" cy="150104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772CF3D-2E13-421F-8C31-6FF22756F4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" r="44"/>
          <a:stretch/>
        </p:blipFill>
        <p:spPr>
          <a:xfrm>
            <a:off x="3919526" y="4479943"/>
            <a:ext cx="1164870" cy="152609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E325CF0-9380-4537-AFD4-F67BD5DB65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" r="53"/>
          <a:stretch/>
        </p:blipFill>
        <p:spPr>
          <a:xfrm>
            <a:off x="5911122" y="4492368"/>
            <a:ext cx="1476831" cy="152609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92AE421-EBF7-4A8F-B288-29BDDD9A03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259" b="1259"/>
          <a:stretch/>
        </p:blipFill>
        <p:spPr>
          <a:xfrm>
            <a:off x="8285956" y="4470059"/>
            <a:ext cx="1585359" cy="153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835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15B05DF-3125-4376-9E27-21E3AFADB4C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25158"/>
          </a:xfrm>
          <a:prstGeom prst="rect">
            <a:avLst/>
          </a:prstGeom>
          <a:solidFill>
            <a:srgbClr val="295572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TH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Results: Overall accuracy</a:t>
            </a:r>
            <a:endParaRPr lang="en-TH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180D0FD-C69A-4155-8A4A-E96E31C9F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4078"/>
              </p:ext>
            </p:extLst>
          </p:nvPr>
        </p:nvGraphicFramePr>
        <p:xfrm>
          <a:off x="266867" y="1118824"/>
          <a:ext cx="5554684" cy="277766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903417">
                  <a:extLst>
                    <a:ext uri="{9D8B030D-6E8A-4147-A177-3AD203B41FA5}">
                      <a16:colId xmlns:a16="http://schemas.microsoft.com/office/drawing/2014/main" val="1372465334"/>
                    </a:ext>
                  </a:extLst>
                </a:gridCol>
                <a:gridCol w="870247">
                  <a:extLst>
                    <a:ext uri="{9D8B030D-6E8A-4147-A177-3AD203B41FA5}">
                      <a16:colId xmlns:a16="http://schemas.microsoft.com/office/drawing/2014/main" val="2287641373"/>
                    </a:ext>
                  </a:extLst>
                </a:gridCol>
                <a:gridCol w="1390510">
                  <a:extLst>
                    <a:ext uri="{9D8B030D-6E8A-4147-A177-3AD203B41FA5}">
                      <a16:colId xmlns:a16="http://schemas.microsoft.com/office/drawing/2014/main" val="3695707456"/>
                    </a:ext>
                  </a:extLst>
                </a:gridCol>
                <a:gridCol w="1390510">
                  <a:extLst>
                    <a:ext uri="{9D8B030D-6E8A-4147-A177-3AD203B41FA5}">
                      <a16:colId xmlns:a16="http://schemas.microsoft.com/office/drawing/2014/main" val="3112319640"/>
                    </a:ext>
                  </a:extLst>
                </a:gridCol>
              </a:tblGrid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Model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>
                          <a:effectLst/>
                        </a:rPr>
                        <a:t>Reagent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Mean Score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Std Dev</a:t>
                      </a:r>
                    </a:p>
                  </a:txBody>
                  <a:tcPr marL="26452" marR="26452" marT="17634" marB="17634" anchor="b"/>
                </a:tc>
                <a:extLst>
                  <a:ext uri="{0D108BD9-81ED-4DB2-BD59-A6C34878D82A}">
                    <a16:rowId xmlns:a16="http://schemas.microsoft.com/office/drawing/2014/main" val="3167941952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 err="1">
                          <a:effectLst/>
                        </a:rPr>
                        <a:t>XGBoost</a:t>
                      </a:r>
                      <a:endParaRPr lang="en-GB" sz="1500" dirty="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0.7665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0.0938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881062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Chi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0.6251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0.0891</a:t>
                      </a:r>
                    </a:p>
                  </a:txBody>
                  <a:tcPr marL="26452" marR="26452" marT="17634" marB="17634" anchor="b"/>
                </a:tc>
                <a:extLst>
                  <a:ext uri="{0D108BD9-81ED-4DB2-BD59-A6C34878D82A}">
                    <a16:rowId xmlns:a16="http://schemas.microsoft.com/office/drawing/2014/main" val="3095843417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Lys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0.7624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0.1057</a:t>
                      </a:r>
                    </a:p>
                  </a:txBody>
                  <a:tcPr marL="26452" marR="26452" marT="17634" marB="17634" anchor="b"/>
                </a:tc>
                <a:extLst>
                  <a:ext uri="{0D108BD9-81ED-4DB2-BD59-A6C34878D82A}">
                    <a16:rowId xmlns:a16="http://schemas.microsoft.com/office/drawing/2014/main" val="976169430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Random Forest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0.9333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0.0757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187850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Chi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0.6917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0.0864</a:t>
                      </a:r>
                    </a:p>
                  </a:txBody>
                  <a:tcPr marL="26452" marR="26452" marT="17634" marB="17634" anchor="b"/>
                </a:tc>
                <a:extLst>
                  <a:ext uri="{0D108BD9-81ED-4DB2-BD59-A6C34878D82A}">
                    <a16:rowId xmlns:a16="http://schemas.microsoft.com/office/drawing/2014/main" val="589899827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>
                          <a:effectLst/>
                        </a:rPr>
                        <a:t>Lys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0.8750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0.1179</a:t>
                      </a:r>
                    </a:p>
                  </a:txBody>
                  <a:tcPr marL="26452" marR="26452" marT="17634" marB="17634" anchor="b"/>
                </a:tc>
                <a:extLst>
                  <a:ext uri="{0D108BD9-81ED-4DB2-BD59-A6C34878D82A}">
                    <a16:rowId xmlns:a16="http://schemas.microsoft.com/office/drawing/2014/main" val="2345807513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>
                          <a:effectLst/>
                        </a:rPr>
                        <a:t>SVM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0.9583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0.0417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32635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>
                          <a:effectLst/>
                        </a:rPr>
                        <a:t>Chi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0.8750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0.0780</a:t>
                      </a:r>
                    </a:p>
                  </a:txBody>
                  <a:tcPr marL="26452" marR="26452" marT="17634" marB="17634" anchor="b"/>
                </a:tc>
                <a:extLst>
                  <a:ext uri="{0D108BD9-81ED-4DB2-BD59-A6C34878D82A}">
                    <a16:rowId xmlns:a16="http://schemas.microsoft.com/office/drawing/2014/main" val="351331804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>
                          <a:effectLst/>
                        </a:rPr>
                        <a:t>Lys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0.8750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0.0977</a:t>
                      </a:r>
                    </a:p>
                  </a:txBody>
                  <a:tcPr marL="26452" marR="26452" marT="17634" marB="17634" anchor="b"/>
                </a:tc>
                <a:extLst>
                  <a:ext uri="{0D108BD9-81ED-4DB2-BD59-A6C34878D82A}">
                    <a16:rowId xmlns:a16="http://schemas.microsoft.com/office/drawing/2014/main" val="4017462904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60E45FD9-D654-448F-A63C-ED79B524C5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651037" y="1118824"/>
            <a:ext cx="2799494" cy="2375137"/>
          </a:xfrm>
          <a:prstGeom prst="rect">
            <a:avLst/>
          </a:prstGeom>
          <a:ln>
            <a:noFill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1755327-B028-4608-AA01-2429221C43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58843" y="3953951"/>
            <a:ext cx="2605635" cy="2377959"/>
          </a:xfrm>
          <a:prstGeom prst="rect">
            <a:avLst/>
          </a:prstGeom>
          <a:ln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AAB8753-080C-40CB-A43B-1697EDA52B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50785" y="3954059"/>
            <a:ext cx="2611724" cy="2377744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C59398-D0DB-4ABC-8FA4-8F79192CE16E}"/>
              </a:ext>
            </a:extLst>
          </p:cNvPr>
          <p:cNvSpPr txBox="1"/>
          <p:nvPr/>
        </p:nvSpPr>
        <p:spPr>
          <a:xfrm>
            <a:off x="8661094" y="3549127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latin typeface="Consolas" panose="020B0609020204030204" pitchFamily="49" charset="0"/>
              </a:rPr>
              <a:t>XGBoost</a:t>
            </a:r>
            <a:endParaRPr lang="en-GB" sz="1200" dirty="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72B456-4480-4F1C-82CF-8DB56DA03795}"/>
              </a:ext>
            </a:extLst>
          </p:cNvPr>
          <p:cNvSpPr txBox="1"/>
          <p:nvPr/>
        </p:nvSpPr>
        <p:spPr>
          <a:xfrm>
            <a:off x="6917092" y="6361545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nsolas" panose="020B0609020204030204" pitchFamily="49" charset="0"/>
              </a:rPr>
              <a:t>Random Forest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D7FAA0-37A8-4CE7-8945-79FB1057E844}"/>
              </a:ext>
            </a:extLst>
          </p:cNvPr>
          <p:cNvSpPr txBox="1"/>
          <p:nvPr/>
        </p:nvSpPr>
        <p:spPr>
          <a:xfrm>
            <a:off x="10136875" y="6361072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nsolas" panose="020B0609020204030204" pitchFamily="49" charset="0"/>
              </a:rPr>
              <a:t>SVM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51B205-6F8F-4F6A-A37E-4B3D6D554378}"/>
              </a:ext>
            </a:extLst>
          </p:cNvPr>
          <p:cNvSpPr txBox="1"/>
          <p:nvPr/>
        </p:nvSpPr>
        <p:spPr>
          <a:xfrm>
            <a:off x="11673430" y="6581001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-TH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endParaRPr lang="en-TH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8247DC-718D-3049-8EA9-E27657793E25}"/>
              </a:ext>
            </a:extLst>
          </p:cNvPr>
          <p:cNvSpPr txBox="1"/>
          <p:nvPr/>
        </p:nvSpPr>
        <p:spPr>
          <a:xfrm>
            <a:off x="465880" y="4189398"/>
            <a:ext cx="53115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The results from Random Forest and SVM models show high accuracy (&gt; 90%), however, the result from </a:t>
            </a:r>
            <a:r>
              <a:rPr lang="en-GB" sz="2000" dirty="0" err="1"/>
              <a:t>XGBoost</a:t>
            </a:r>
            <a:r>
              <a:rPr lang="en-GB" sz="2000" dirty="0"/>
              <a:t> model still shows the accuracy less than 80%</a:t>
            </a:r>
          </a:p>
        </p:txBody>
      </p:sp>
    </p:spTree>
    <p:extLst>
      <p:ext uri="{BB962C8B-B14F-4D97-AF65-F5344CB8AC3E}">
        <p14:creationId xmlns:p14="http://schemas.microsoft.com/office/powerpoint/2010/main" val="414720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15B05DF-3125-4376-9E27-21E3AFADB4C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25158"/>
          </a:xfrm>
          <a:prstGeom prst="rect">
            <a:avLst/>
          </a:prstGeom>
          <a:solidFill>
            <a:srgbClr val="295572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TH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Results: Chitosan accuracy</a:t>
            </a:r>
            <a:endParaRPr lang="en-TH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180D0FD-C69A-4155-8A4A-E96E31C9F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306040"/>
              </p:ext>
            </p:extLst>
          </p:nvPr>
        </p:nvGraphicFramePr>
        <p:xfrm>
          <a:off x="266867" y="1118824"/>
          <a:ext cx="5554684" cy="277766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903417">
                  <a:extLst>
                    <a:ext uri="{9D8B030D-6E8A-4147-A177-3AD203B41FA5}">
                      <a16:colId xmlns:a16="http://schemas.microsoft.com/office/drawing/2014/main" val="1372465334"/>
                    </a:ext>
                  </a:extLst>
                </a:gridCol>
                <a:gridCol w="870247">
                  <a:extLst>
                    <a:ext uri="{9D8B030D-6E8A-4147-A177-3AD203B41FA5}">
                      <a16:colId xmlns:a16="http://schemas.microsoft.com/office/drawing/2014/main" val="2287641373"/>
                    </a:ext>
                  </a:extLst>
                </a:gridCol>
                <a:gridCol w="1390510">
                  <a:extLst>
                    <a:ext uri="{9D8B030D-6E8A-4147-A177-3AD203B41FA5}">
                      <a16:colId xmlns:a16="http://schemas.microsoft.com/office/drawing/2014/main" val="3695707456"/>
                    </a:ext>
                  </a:extLst>
                </a:gridCol>
                <a:gridCol w="1390510">
                  <a:extLst>
                    <a:ext uri="{9D8B030D-6E8A-4147-A177-3AD203B41FA5}">
                      <a16:colId xmlns:a16="http://schemas.microsoft.com/office/drawing/2014/main" val="3112319640"/>
                    </a:ext>
                  </a:extLst>
                </a:gridCol>
              </a:tblGrid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Model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>
                          <a:effectLst/>
                        </a:rPr>
                        <a:t>Reagent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Mean Score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Std Dev</a:t>
                      </a:r>
                    </a:p>
                  </a:txBody>
                  <a:tcPr marL="26452" marR="26452" marT="17634" marB="17634" anchor="b"/>
                </a:tc>
                <a:extLst>
                  <a:ext uri="{0D108BD9-81ED-4DB2-BD59-A6C34878D82A}">
                    <a16:rowId xmlns:a16="http://schemas.microsoft.com/office/drawing/2014/main" val="3167941952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 err="1">
                          <a:effectLst/>
                        </a:rPr>
                        <a:t>XGBoost</a:t>
                      </a:r>
                      <a:endParaRPr lang="en-GB" sz="1500" dirty="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0.7665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0.0938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881062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Chi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0.6251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0.0891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843417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Lys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0.7624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0.1057</a:t>
                      </a:r>
                    </a:p>
                  </a:txBody>
                  <a:tcPr marL="26452" marR="26452" marT="17634" marB="17634" anchor="b"/>
                </a:tc>
                <a:extLst>
                  <a:ext uri="{0D108BD9-81ED-4DB2-BD59-A6C34878D82A}">
                    <a16:rowId xmlns:a16="http://schemas.microsoft.com/office/drawing/2014/main" val="976169430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Random Forest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0.9333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0.0757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187850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Chi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0.6917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0.0864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899827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>
                          <a:effectLst/>
                        </a:rPr>
                        <a:t>Lys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0.8750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0.1179</a:t>
                      </a:r>
                    </a:p>
                  </a:txBody>
                  <a:tcPr marL="26452" marR="26452" marT="17634" marB="17634" anchor="b"/>
                </a:tc>
                <a:extLst>
                  <a:ext uri="{0D108BD9-81ED-4DB2-BD59-A6C34878D82A}">
                    <a16:rowId xmlns:a16="http://schemas.microsoft.com/office/drawing/2014/main" val="2345807513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>
                          <a:effectLst/>
                        </a:rPr>
                        <a:t>SVM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0.9583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0.0417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32635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Chi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0.8750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0.0780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31804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>
                          <a:effectLst/>
                        </a:rPr>
                        <a:t>Lys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0.8750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0.0977</a:t>
                      </a:r>
                    </a:p>
                  </a:txBody>
                  <a:tcPr marL="26452" marR="26452" marT="17634" marB="17634" anchor="b"/>
                </a:tc>
                <a:extLst>
                  <a:ext uri="{0D108BD9-81ED-4DB2-BD59-A6C34878D82A}">
                    <a16:rowId xmlns:a16="http://schemas.microsoft.com/office/drawing/2014/main" val="40174629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C59398-D0DB-4ABC-8FA4-8F79192CE16E}"/>
              </a:ext>
            </a:extLst>
          </p:cNvPr>
          <p:cNvSpPr txBox="1"/>
          <p:nvPr/>
        </p:nvSpPr>
        <p:spPr>
          <a:xfrm>
            <a:off x="8661094" y="3549127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latin typeface="Consolas" panose="020B0609020204030204" pitchFamily="49" charset="0"/>
              </a:rPr>
              <a:t>XGBoost</a:t>
            </a:r>
            <a:endParaRPr lang="en-GB" sz="1200" dirty="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72B456-4480-4F1C-82CF-8DB56DA03795}"/>
              </a:ext>
            </a:extLst>
          </p:cNvPr>
          <p:cNvSpPr txBox="1"/>
          <p:nvPr/>
        </p:nvSpPr>
        <p:spPr>
          <a:xfrm>
            <a:off x="6917092" y="6361545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nsolas" panose="020B0609020204030204" pitchFamily="49" charset="0"/>
              </a:rPr>
              <a:t>Random Forest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D7FAA0-37A8-4CE7-8945-79FB1057E844}"/>
              </a:ext>
            </a:extLst>
          </p:cNvPr>
          <p:cNvSpPr txBox="1"/>
          <p:nvPr/>
        </p:nvSpPr>
        <p:spPr>
          <a:xfrm>
            <a:off x="10136875" y="6361072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nsolas" panose="020B0609020204030204" pitchFamily="49" charset="0"/>
              </a:rPr>
              <a:t>SVM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AB9F79-5DF5-4254-8001-C429FCDFAE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654834" y="1118824"/>
            <a:ext cx="2796284" cy="23714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040200-CD09-4F74-ADDB-8AA2D3A356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55797" y="3953951"/>
            <a:ext cx="2611724" cy="23779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8CE897-5184-49E7-A3E8-411AFFA923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50784" y="3953950"/>
            <a:ext cx="2611724" cy="23779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4DD45A7-5071-473D-BAC2-9346E2E95D8F}"/>
              </a:ext>
            </a:extLst>
          </p:cNvPr>
          <p:cNvSpPr txBox="1"/>
          <p:nvPr/>
        </p:nvSpPr>
        <p:spPr>
          <a:xfrm>
            <a:off x="11673430" y="6581001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TH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endParaRPr lang="en-TH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B949C6-A586-D542-833A-AEA5A0F7959D}"/>
              </a:ext>
            </a:extLst>
          </p:cNvPr>
          <p:cNvSpPr txBox="1"/>
          <p:nvPr/>
        </p:nvSpPr>
        <p:spPr>
          <a:xfrm>
            <a:off x="465880" y="4189398"/>
            <a:ext cx="531159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thaiDist">
              <a:buFont typeface="Arial" panose="020B0604020202020204" pitchFamily="34" charset="0"/>
              <a:buChar char="•"/>
            </a:pPr>
            <a:r>
              <a:rPr lang="en-GB" sz="2000" dirty="0"/>
              <a:t>Although the result from SVM model shows high accuracy (&gt; 80%), the results from </a:t>
            </a:r>
            <a:r>
              <a:rPr lang="en-GB" sz="2000" dirty="0" err="1"/>
              <a:t>XGBoost</a:t>
            </a:r>
            <a:r>
              <a:rPr lang="en-GB" sz="2000" dirty="0"/>
              <a:t> and Random Forest models show low accuracy (&lt; 70%)</a:t>
            </a:r>
          </a:p>
          <a:p>
            <a:pPr algn="thaiDist"/>
            <a:endParaRPr lang="en-GB" sz="2000" dirty="0"/>
          </a:p>
          <a:p>
            <a:pPr algn="thaiDist"/>
            <a:r>
              <a:rPr lang="en-GB" sz="2000" b="1" dirty="0"/>
              <a:t>Future work</a:t>
            </a:r>
            <a:r>
              <a:rPr lang="en-GB" sz="2000" dirty="0"/>
              <a:t> - Conduct the experiment using other biopolymers</a:t>
            </a:r>
          </a:p>
        </p:txBody>
      </p:sp>
    </p:spTree>
    <p:extLst>
      <p:ext uri="{BB962C8B-B14F-4D97-AF65-F5344CB8AC3E}">
        <p14:creationId xmlns:p14="http://schemas.microsoft.com/office/powerpoint/2010/main" val="3143552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15B05DF-3125-4376-9E27-21E3AFADB4C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25158"/>
          </a:xfrm>
          <a:prstGeom prst="rect">
            <a:avLst/>
          </a:prstGeom>
          <a:solidFill>
            <a:srgbClr val="295572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TH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Results: Poly-L-lysine accuracy</a:t>
            </a:r>
            <a:endParaRPr lang="en-TH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D09C6A-FF13-4706-87E7-1FA708BC061F}"/>
              </a:ext>
            </a:extLst>
          </p:cNvPr>
          <p:cNvSpPr txBox="1"/>
          <p:nvPr/>
        </p:nvSpPr>
        <p:spPr>
          <a:xfrm>
            <a:off x="11582538" y="6576563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TH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endParaRPr lang="en-TH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180D0FD-C69A-4155-8A4A-E96E31C9F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871230"/>
              </p:ext>
            </p:extLst>
          </p:nvPr>
        </p:nvGraphicFramePr>
        <p:xfrm>
          <a:off x="266867" y="1118824"/>
          <a:ext cx="5554684" cy="277766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903417">
                  <a:extLst>
                    <a:ext uri="{9D8B030D-6E8A-4147-A177-3AD203B41FA5}">
                      <a16:colId xmlns:a16="http://schemas.microsoft.com/office/drawing/2014/main" val="1372465334"/>
                    </a:ext>
                  </a:extLst>
                </a:gridCol>
                <a:gridCol w="870247">
                  <a:extLst>
                    <a:ext uri="{9D8B030D-6E8A-4147-A177-3AD203B41FA5}">
                      <a16:colId xmlns:a16="http://schemas.microsoft.com/office/drawing/2014/main" val="2287641373"/>
                    </a:ext>
                  </a:extLst>
                </a:gridCol>
                <a:gridCol w="1390510">
                  <a:extLst>
                    <a:ext uri="{9D8B030D-6E8A-4147-A177-3AD203B41FA5}">
                      <a16:colId xmlns:a16="http://schemas.microsoft.com/office/drawing/2014/main" val="3695707456"/>
                    </a:ext>
                  </a:extLst>
                </a:gridCol>
                <a:gridCol w="1390510">
                  <a:extLst>
                    <a:ext uri="{9D8B030D-6E8A-4147-A177-3AD203B41FA5}">
                      <a16:colId xmlns:a16="http://schemas.microsoft.com/office/drawing/2014/main" val="3112319640"/>
                    </a:ext>
                  </a:extLst>
                </a:gridCol>
              </a:tblGrid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Model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>
                          <a:effectLst/>
                        </a:rPr>
                        <a:t>Reagent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Mean Score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Std Dev</a:t>
                      </a:r>
                    </a:p>
                  </a:txBody>
                  <a:tcPr marL="26452" marR="26452" marT="17634" marB="17634" anchor="b"/>
                </a:tc>
                <a:extLst>
                  <a:ext uri="{0D108BD9-81ED-4DB2-BD59-A6C34878D82A}">
                    <a16:rowId xmlns:a16="http://schemas.microsoft.com/office/drawing/2014/main" val="3167941952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 err="1">
                          <a:effectLst/>
                        </a:rPr>
                        <a:t>XGBoost</a:t>
                      </a:r>
                      <a:endParaRPr lang="en-GB" sz="1500" dirty="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0.7665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0.0938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881062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Chi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0.6251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0.0891</a:t>
                      </a:r>
                    </a:p>
                  </a:txBody>
                  <a:tcPr marL="26452" marR="26452" marT="17634" marB="17634" anchor="b"/>
                </a:tc>
                <a:extLst>
                  <a:ext uri="{0D108BD9-81ED-4DB2-BD59-A6C34878D82A}">
                    <a16:rowId xmlns:a16="http://schemas.microsoft.com/office/drawing/2014/main" val="3095843417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Lys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0.7624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0.1057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169430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Random Forest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0.9333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0.0757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187850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Chi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0.6917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0.0864</a:t>
                      </a:r>
                    </a:p>
                  </a:txBody>
                  <a:tcPr marL="26452" marR="26452" marT="17634" marB="17634" anchor="b"/>
                </a:tc>
                <a:extLst>
                  <a:ext uri="{0D108BD9-81ED-4DB2-BD59-A6C34878D82A}">
                    <a16:rowId xmlns:a16="http://schemas.microsoft.com/office/drawing/2014/main" val="589899827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Lys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0.8750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0.1179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807513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>
                          <a:effectLst/>
                        </a:rPr>
                        <a:t>SVM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0.9583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0.0417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32635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Chi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0.8750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0.0780</a:t>
                      </a:r>
                    </a:p>
                  </a:txBody>
                  <a:tcPr marL="26452" marR="26452" marT="17634" marB="17634" anchor="b"/>
                </a:tc>
                <a:extLst>
                  <a:ext uri="{0D108BD9-81ED-4DB2-BD59-A6C34878D82A}">
                    <a16:rowId xmlns:a16="http://schemas.microsoft.com/office/drawing/2014/main" val="351331804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Lys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0.8750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0.0977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4629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C59398-D0DB-4ABC-8FA4-8F79192CE16E}"/>
              </a:ext>
            </a:extLst>
          </p:cNvPr>
          <p:cNvSpPr txBox="1"/>
          <p:nvPr/>
        </p:nvSpPr>
        <p:spPr>
          <a:xfrm>
            <a:off x="8661094" y="3549127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latin typeface="Consolas" panose="020B0609020204030204" pitchFamily="49" charset="0"/>
              </a:rPr>
              <a:t>XGBoost</a:t>
            </a:r>
            <a:endParaRPr lang="en-GB" sz="1200" dirty="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72B456-4480-4F1C-82CF-8DB56DA03795}"/>
              </a:ext>
            </a:extLst>
          </p:cNvPr>
          <p:cNvSpPr txBox="1"/>
          <p:nvPr/>
        </p:nvSpPr>
        <p:spPr>
          <a:xfrm>
            <a:off x="6917092" y="6361545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nsolas" panose="020B0609020204030204" pitchFamily="49" charset="0"/>
              </a:rPr>
              <a:t>Random Forest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D7FAA0-37A8-4CE7-8945-79FB1057E844}"/>
              </a:ext>
            </a:extLst>
          </p:cNvPr>
          <p:cNvSpPr txBox="1"/>
          <p:nvPr/>
        </p:nvSpPr>
        <p:spPr>
          <a:xfrm>
            <a:off x="10136875" y="6361072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nsolas" panose="020B0609020204030204" pitchFamily="49" charset="0"/>
              </a:rPr>
              <a:t>SVM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DE8253-2936-42FC-8C72-B4078F93BC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682670" y="1118824"/>
            <a:ext cx="2736229" cy="23719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88224F-5327-4AB1-9EA3-B5775FCBD4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55796" y="3953951"/>
            <a:ext cx="2611724" cy="23779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6457C0-74B8-4A8C-B08E-9F30C7603E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50784" y="3953953"/>
            <a:ext cx="2611723" cy="23779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1D5FDDE-64D9-1243-85A5-6FA31AD29BD5}"/>
              </a:ext>
            </a:extLst>
          </p:cNvPr>
          <p:cNvSpPr txBox="1"/>
          <p:nvPr/>
        </p:nvSpPr>
        <p:spPr>
          <a:xfrm>
            <a:off x="465880" y="4189398"/>
            <a:ext cx="531159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thaiDist">
              <a:buFont typeface="Arial" panose="020B0604020202020204" pitchFamily="34" charset="0"/>
              <a:buChar char="•"/>
            </a:pPr>
            <a:r>
              <a:rPr lang="en-GB" sz="2000" dirty="0"/>
              <a:t>The results from Random Forest and SVM models show high accuracy (&gt; 80%), however, the result from </a:t>
            </a:r>
            <a:r>
              <a:rPr lang="en-GB" sz="2000" dirty="0" err="1"/>
              <a:t>XGBoost</a:t>
            </a:r>
            <a:r>
              <a:rPr lang="en-GB" sz="2000" dirty="0"/>
              <a:t> still shows the accuracy less than 80%</a:t>
            </a:r>
          </a:p>
          <a:p>
            <a:pPr algn="thaiDist"/>
            <a:endParaRPr lang="en-GB" sz="2000" dirty="0"/>
          </a:p>
          <a:p>
            <a:pPr algn="thaiDist"/>
            <a:r>
              <a:rPr lang="en-GB" sz="2000" b="1" dirty="0"/>
              <a:t>Future work</a:t>
            </a:r>
            <a:r>
              <a:rPr lang="en-GB" sz="2000" dirty="0"/>
              <a:t> - Conduct the experiment in other conditions than DI water and blend poly-L-lysine with other biopolymers to improve the accuracy</a:t>
            </a:r>
          </a:p>
        </p:txBody>
      </p:sp>
    </p:spTree>
    <p:extLst>
      <p:ext uri="{BB962C8B-B14F-4D97-AF65-F5344CB8AC3E}">
        <p14:creationId xmlns:p14="http://schemas.microsoft.com/office/powerpoint/2010/main" val="2877666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2BBD9-8550-4537-995D-BFACBBA53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38004"/>
            <a:ext cx="12192000" cy="1224471"/>
          </a:xfrm>
          <a:solidFill>
            <a:srgbClr val="295572"/>
          </a:solidFill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	Experiment II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20827-FA29-49BB-ABF3-6AAF65B9C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5420" y="4669363"/>
            <a:ext cx="10362029" cy="754894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Classification of arsenic (As), cadmium (Cd) and cobalt (Co)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GB" dirty="0">
                <a:solidFill>
                  <a:schemeClr val="bg2">
                    <a:lumMod val="25000"/>
                  </a:schemeClr>
                </a:solidFill>
              </a:rPr>
              <a:t>using alginate, tannin and gallic acid</a:t>
            </a:r>
          </a:p>
        </p:txBody>
      </p:sp>
    </p:spTree>
    <p:extLst>
      <p:ext uri="{BB962C8B-B14F-4D97-AF65-F5344CB8AC3E}">
        <p14:creationId xmlns:p14="http://schemas.microsoft.com/office/powerpoint/2010/main" val="728341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183DA95-28C8-6A4A-ABAF-B2F56A0C799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25158"/>
          </a:xfrm>
          <a:prstGeom prst="rect">
            <a:avLst/>
          </a:prstGeom>
          <a:solidFill>
            <a:srgbClr val="295572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 Methodology</a:t>
            </a:r>
            <a:endParaRPr lang="en-TH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7" name="Table 2">
            <a:extLst>
              <a:ext uri="{FF2B5EF4-FFF2-40B4-BE49-F238E27FC236}">
                <a16:creationId xmlns:a16="http://schemas.microsoft.com/office/drawing/2014/main" id="{708D0026-51AE-3E47-AD77-FF8883163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817063"/>
              </p:ext>
            </p:extLst>
          </p:nvPr>
        </p:nvGraphicFramePr>
        <p:xfrm>
          <a:off x="369137" y="1169966"/>
          <a:ext cx="6622789" cy="298581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490836">
                  <a:extLst>
                    <a:ext uri="{9D8B030D-6E8A-4147-A177-3AD203B41FA5}">
                      <a16:colId xmlns:a16="http://schemas.microsoft.com/office/drawing/2014/main" val="1541226483"/>
                    </a:ext>
                  </a:extLst>
                </a:gridCol>
                <a:gridCol w="3131953">
                  <a:extLst>
                    <a:ext uri="{9D8B030D-6E8A-4147-A177-3AD203B41FA5}">
                      <a16:colId xmlns:a16="http://schemas.microsoft.com/office/drawing/2014/main" val="2492138256"/>
                    </a:ext>
                  </a:extLst>
                </a:gridCol>
              </a:tblGrid>
              <a:tr h="666529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Factor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Levels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829419145"/>
                  </a:ext>
                </a:extLst>
              </a:tr>
              <a:tr h="423111"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Heavy metal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As, Cd, Co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805119729"/>
                  </a:ext>
                </a:extLst>
              </a:tr>
              <a:tr h="423111"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Heavy metal concentration </a:t>
                      </a:r>
                    </a:p>
                    <a:p>
                      <a:pPr algn="l"/>
                      <a:r>
                        <a:rPr lang="en-GB" sz="1800" dirty="0"/>
                        <a:t>(ppb)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0, 1, 10, 100 (As, Co)</a:t>
                      </a:r>
                    </a:p>
                    <a:p>
                      <a:pPr algn="l"/>
                      <a:r>
                        <a:rPr lang="en-GB" sz="1800" dirty="0"/>
                        <a:t>0, 5, 50, 500 (Cd)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047181200"/>
                  </a:ext>
                </a:extLst>
              </a:tr>
              <a:tr h="423111"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Reagent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Alginate</a:t>
                      </a:r>
                      <a:r>
                        <a:rPr lang="en-GB" sz="1800" dirty="0"/>
                        <a:t>, Tannin, Gallic acid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602016150"/>
                  </a:ext>
                </a:extLst>
              </a:tr>
              <a:tr h="416492"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Reagent concentration (ppb)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0, 1, 100, 10000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733330906"/>
                  </a:ext>
                </a:extLst>
              </a:tr>
              <a:tr h="416492"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Conditions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DI, 0.1 M PBS, 0.7 M NaCl, RSW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19253558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6F9B35A-5D2E-2D45-BF0F-5864B1076038}"/>
              </a:ext>
            </a:extLst>
          </p:cNvPr>
          <p:cNvSpPr txBox="1"/>
          <p:nvPr/>
        </p:nvSpPr>
        <p:spPr>
          <a:xfrm>
            <a:off x="7387953" y="2279436"/>
            <a:ext cx="421394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500" b="1" dirty="0">
                <a:solidFill>
                  <a:schemeClr val="bg2">
                    <a:lumMod val="25000"/>
                  </a:schemeClr>
                </a:solidFill>
              </a:rPr>
              <a:t>Surface water quality standard for heavy metals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4B0695-3769-704C-9E53-2997A61A3D31}"/>
              </a:ext>
            </a:extLst>
          </p:cNvPr>
          <p:cNvSpPr txBox="1"/>
          <p:nvPr/>
        </p:nvSpPr>
        <p:spPr>
          <a:xfrm>
            <a:off x="2189965" y="6006039"/>
            <a:ext cx="1164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25000"/>
                  </a:schemeClr>
                </a:solidFill>
              </a:rPr>
              <a:t>Dilution </a:t>
            </a:r>
          </a:p>
          <a:p>
            <a:pPr algn="ctr"/>
            <a:r>
              <a:rPr lang="en-GB" sz="1600" dirty="0">
                <a:solidFill>
                  <a:schemeClr val="bg2">
                    <a:lumMod val="25000"/>
                  </a:schemeClr>
                </a:solidFill>
              </a:rPr>
              <a:t>preparation</a:t>
            </a:r>
          </a:p>
        </p:txBody>
      </p:sp>
      <p:sp>
        <p:nvSpPr>
          <p:cNvPr id="9" name="Arrow: Right 54">
            <a:extLst>
              <a:ext uri="{FF2B5EF4-FFF2-40B4-BE49-F238E27FC236}">
                <a16:creationId xmlns:a16="http://schemas.microsoft.com/office/drawing/2014/main" id="{A4DAE9CD-5EF9-6F45-9DCA-6D56CB5F61BF}"/>
              </a:ext>
            </a:extLst>
          </p:cNvPr>
          <p:cNvSpPr/>
          <p:nvPr/>
        </p:nvSpPr>
        <p:spPr>
          <a:xfrm>
            <a:off x="3247567" y="5121743"/>
            <a:ext cx="421825" cy="248625"/>
          </a:xfrm>
          <a:prstGeom prst="rightArrow">
            <a:avLst/>
          </a:prstGeom>
          <a:solidFill>
            <a:srgbClr val="2753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FA41EC-0D05-0140-BF88-824FE189284F}"/>
              </a:ext>
            </a:extLst>
          </p:cNvPr>
          <p:cNvSpPr txBox="1"/>
          <p:nvPr/>
        </p:nvSpPr>
        <p:spPr>
          <a:xfrm>
            <a:off x="4114387" y="6006040"/>
            <a:ext cx="7751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25000"/>
                  </a:schemeClr>
                </a:solidFill>
              </a:rPr>
              <a:t>Vortex </a:t>
            </a:r>
          </a:p>
          <a:p>
            <a:pPr algn="ctr"/>
            <a:r>
              <a:rPr lang="en-GB" sz="1600" dirty="0">
                <a:solidFill>
                  <a:schemeClr val="bg2">
                    <a:lumMod val="25000"/>
                  </a:schemeClr>
                </a:solidFill>
              </a:rPr>
              <a:t>Mixing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1E6F51-A73C-D74B-AB72-2D0AD7ED0EB1}"/>
              </a:ext>
            </a:extLst>
          </p:cNvPr>
          <p:cNvSpPr txBox="1"/>
          <p:nvPr/>
        </p:nvSpPr>
        <p:spPr>
          <a:xfrm>
            <a:off x="5562343" y="6011945"/>
            <a:ext cx="1975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2">
                    <a:lumMod val="25000"/>
                  </a:schemeClr>
                </a:solidFill>
              </a:rPr>
              <a:t>Paper chip loading </a:t>
            </a:r>
          </a:p>
          <a:p>
            <a:pPr algn="ctr"/>
            <a:r>
              <a:rPr lang="en-GB" sz="1600" dirty="0">
                <a:solidFill>
                  <a:schemeClr val="bg2">
                    <a:lumMod val="25000"/>
                  </a:schemeClr>
                </a:solidFill>
              </a:rPr>
              <a:t>and SALSA operation</a:t>
            </a:r>
          </a:p>
        </p:txBody>
      </p:sp>
      <p:sp>
        <p:nvSpPr>
          <p:cNvPr id="15" name="Arrow: Right 54">
            <a:extLst>
              <a:ext uri="{FF2B5EF4-FFF2-40B4-BE49-F238E27FC236}">
                <a16:creationId xmlns:a16="http://schemas.microsoft.com/office/drawing/2014/main" id="{03C4B509-6191-6140-A4E4-A7E1A0E2F739}"/>
              </a:ext>
            </a:extLst>
          </p:cNvPr>
          <p:cNvSpPr/>
          <p:nvPr/>
        </p:nvSpPr>
        <p:spPr>
          <a:xfrm>
            <a:off x="5287672" y="5098147"/>
            <a:ext cx="421825" cy="248625"/>
          </a:xfrm>
          <a:prstGeom prst="rightArrow">
            <a:avLst/>
          </a:prstGeom>
          <a:solidFill>
            <a:srgbClr val="2753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8FCD8B-CD51-F140-A102-57E9AEB1AE5B}"/>
              </a:ext>
            </a:extLst>
          </p:cNvPr>
          <p:cNvSpPr/>
          <p:nvPr/>
        </p:nvSpPr>
        <p:spPr>
          <a:xfrm>
            <a:off x="5051344" y="4945240"/>
            <a:ext cx="86580" cy="3530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9" name="Arrow: Right 54">
            <a:extLst>
              <a:ext uri="{FF2B5EF4-FFF2-40B4-BE49-F238E27FC236}">
                <a16:creationId xmlns:a16="http://schemas.microsoft.com/office/drawing/2014/main" id="{020178C5-DEDC-464A-9856-10F90803E9C9}"/>
              </a:ext>
            </a:extLst>
          </p:cNvPr>
          <p:cNvSpPr/>
          <p:nvPr/>
        </p:nvSpPr>
        <p:spPr>
          <a:xfrm>
            <a:off x="7626042" y="5118678"/>
            <a:ext cx="421825" cy="248625"/>
          </a:xfrm>
          <a:prstGeom prst="rightArrow">
            <a:avLst/>
          </a:prstGeom>
          <a:solidFill>
            <a:srgbClr val="2753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957F67-7BBB-F448-A777-BB01400B655F}"/>
              </a:ext>
            </a:extLst>
          </p:cNvPr>
          <p:cNvSpPr txBox="1"/>
          <p:nvPr/>
        </p:nvSpPr>
        <p:spPr>
          <a:xfrm>
            <a:off x="8007280" y="6005945"/>
            <a:ext cx="21445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GB" sz="1600" dirty="0">
                <a:solidFill>
                  <a:schemeClr val="bg2">
                    <a:lumMod val="25000"/>
                  </a:schemeClr>
                </a:solidFill>
              </a:rPr>
              <a:t>Flow profile analysis </a:t>
            </a:r>
            <a:br>
              <a:rPr lang="en-GB" sz="16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GB" sz="1600" dirty="0">
                <a:solidFill>
                  <a:schemeClr val="bg2">
                    <a:lumMod val="25000"/>
                  </a:schemeClr>
                </a:solidFill>
              </a:rPr>
              <a:t>+ Machine learning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8809F3-827E-40F0-A2C8-7B49358294AA}"/>
              </a:ext>
            </a:extLst>
          </p:cNvPr>
          <p:cNvSpPr txBox="1"/>
          <p:nvPr/>
        </p:nvSpPr>
        <p:spPr>
          <a:xfrm>
            <a:off x="11673430" y="6581001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TH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13</a:t>
            </a:r>
            <a:endParaRPr lang="en-TH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198CAF9-04CA-443D-B19E-1098521CB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682141"/>
              </p:ext>
            </p:extLst>
          </p:nvPr>
        </p:nvGraphicFramePr>
        <p:xfrm>
          <a:off x="7387953" y="2662873"/>
          <a:ext cx="421395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6975">
                  <a:extLst>
                    <a:ext uri="{9D8B030D-6E8A-4147-A177-3AD203B41FA5}">
                      <a16:colId xmlns:a16="http://schemas.microsoft.com/office/drawing/2014/main" val="2504384512"/>
                    </a:ext>
                  </a:extLst>
                </a:gridCol>
                <a:gridCol w="2106975">
                  <a:extLst>
                    <a:ext uri="{9D8B030D-6E8A-4147-A177-3AD203B41FA5}">
                      <a16:colId xmlns:a16="http://schemas.microsoft.com/office/drawing/2014/main" val="4146185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Heavy metal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Concentration (ppb)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694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Arsenic (As)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185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Cadmium (Cd)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577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Cobalt (Co)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657130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9F723E6-3D68-422D-9E3F-B4D43E1BF410}"/>
              </a:ext>
            </a:extLst>
          </p:cNvPr>
          <p:cNvSpPr txBox="1"/>
          <p:nvPr/>
        </p:nvSpPr>
        <p:spPr>
          <a:xfrm>
            <a:off x="11582538" y="6576563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  <a:r>
              <a:rPr lang="en-TH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endParaRPr lang="en-TH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8196341-D999-4051-A2A7-2C2B88DB26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1" b="331"/>
          <a:stretch/>
        </p:blipFill>
        <p:spPr>
          <a:xfrm>
            <a:off x="2306383" y="4471937"/>
            <a:ext cx="669452" cy="150104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26D1E49-ACEF-4FEF-82A3-36CF3C4411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" r="44"/>
          <a:stretch/>
        </p:blipFill>
        <p:spPr>
          <a:xfrm>
            <a:off x="3919526" y="4479943"/>
            <a:ext cx="1164870" cy="152609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CD04CB2-6AE3-477F-BFA1-8CB106243D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" r="53"/>
          <a:stretch/>
        </p:blipFill>
        <p:spPr>
          <a:xfrm>
            <a:off x="5911122" y="4492368"/>
            <a:ext cx="1476831" cy="152609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CCDBB0F-78F7-4E96-BB74-E94D9EC5BD3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259" b="1259"/>
          <a:stretch/>
        </p:blipFill>
        <p:spPr>
          <a:xfrm>
            <a:off x="8285956" y="4470059"/>
            <a:ext cx="1585359" cy="153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68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15B05DF-3125-4376-9E27-21E3AFADB4C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25158"/>
          </a:xfrm>
          <a:prstGeom prst="rect">
            <a:avLst/>
          </a:prstGeom>
          <a:solidFill>
            <a:srgbClr val="295572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TH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GB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Results: Overall accuracy</a:t>
            </a:r>
            <a:endParaRPr lang="en-TH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180D0FD-C69A-4155-8A4A-E96E31C9F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967210"/>
              </p:ext>
            </p:extLst>
          </p:nvPr>
        </p:nvGraphicFramePr>
        <p:xfrm>
          <a:off x="266866" y="1229020"/>
          <a:ext cx="5485864" cy="1238352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912834">
                  <a:extLst>
                    <a:ext uri="{9D8B030D-6E8A-4147-A177-3AD203B41FA5}">
                      <a16:colId xmlns:a16="http://schemas.microsoft.com/office/drawing/2014/main" val="1372465334"/>
                    </a:ext>
                  </a:extLst>
                </a:gridCol>
                <a:gridCol w="1786515">
                  <a:extLst>
                    <a:ext uri="{9D8B030D-6E8A-4147-A177-3AD203B41FA5}">
                      <a16:colId xmlns:a16="http://schemas.microsoft.com/office/drawing/2014/main" val="3695707456"/>
                    </a:ext>
                  </a:extLst>
                </a:gridCol>
                <a:gridCol w="1786515">
                  <a:extLst>
                    <a:ext uri="{9D8B030D-6E8A-4147-A177-3AD203B41FA5}">
                      <a16:colId xmlns:a16="http://schemas.microsoft.com/office/drawing/2014/main" val="3112319640"/>
                    </a:ext>
                  </a:extLst>
                </a:gridCol>
              </a:tblGrid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800" b="1" dirty="0">
                          <a:effectLst/>
                        </a:rPr>
                        <a:t>Model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800" b="1" dirty="0">
                          <a:effectLst/>
                        </a:rPr>
                        <a:t>Mean Score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800" b="1" dirty="0">
                          <a:effectLst/>
                        </a:rPr>
                        <a:t>Std Dev</a:t>
                      </a:r>
                    </a:p>
                  </a:txBody>
                  <a:tcPr marL="26452" marR="26452" marT="17634" marB="17634" anchor="b"/>
                </a:tc>
                <a:extLst>
                  <a:ext uri="{0D108BD9-81ED-4DB2-BD59-A6C34878D82A}">
                    <a16:rowId xmlns:a16="http://schemas.microsoft.com/office/drawing/2014/main" val="3167941952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800" dirty="0" err="1">
                          <a:effectLst/>
                        </a:rPr>
                        <a:t>XGBoost</a:t>
                      </a:r>
                      <a:endParaRPr lang="en-GB" sz="1800" dirty="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800" dirty="0">
                          <a:effectLst/>
                        </a:rPr>
                        <a:t>0.9937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800" dirty="0">
                          <a:effectLst/>
                        </a:rPr>
                        <a:t>0.017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881062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800" dirty="0">
                          <a:effectLst/>
                        </a:rPr>
                        <a:t>Random Forest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8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8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187850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800" dirty="0">
                          <a:effectLst/>
                        </a:rPr>
                        <a:t>SVM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8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8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3263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C59398-D0DB-4ABC-8FA4-8F79192CE16E}"/>
              </a:ext>
            </a:extLst>
          </p:cNvPr>
          <p:cNvSpPr txBox="1"/>
          <p:nvPr/>
        </p:nvSpPr>
        <p:spPr>
          <a:xfrm>
            <a:off x="8661093" y="3549127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latin typeface="Consolas" panose="020B0609020204030204" pitchFamily="49" charset="0"/>
              </a:rPr>
              <a:t>XGBoost</a:t>
            </a:r>
            <a:endParaRPr lang="en-GB" sz="1200" dirty="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72B456-4480-4F1C-82CF-8DB56DA03795}"/>
              </a:ext>
            </a:extLst>
          </p:cNvPr>
          <p:cNvSpPr txBox="1"/>
          <p:nvPr/>
        </p:nvSpPr>
        <p:spPr>
          <a:xfrm>
            <a:off x="6856748" y="6299563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nsolas" panose="020B0609020204030204" pitchFamily="49" charset="0"/>
              </a:rPr>
              <a:t>Random Forest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D7FAA0-37A8-4CE7-8945-79FB1057E844}"/>
              </a:ext>
            </a:extLst>
          </p:cNvPr>
          <p:cNvSpPr txBox="1"/>
          <p:nvPr/>
        </p:nvSpPr>
        <p:spPr>
          <a:xfrm>
            <a:off x="10273525" y="6299564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nsolas" panose="020B0609020204030204" pitchFamily="49" charset="0"/>
              </a:rPr>
              <a:t>SVM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D5DD8D-E9F7-4012-AD75-1AB1DDCC22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08271" y="1229020"/>
            <a:ext cx="2885026" cy="2320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5DBF8D-9E5F-4CF6-B793-23ECAF1408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00" y="3932808"/>
            <a:ext cx="2810632" cy="22602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E973AC-7395-4B03-9284-0FC6B73E61C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050785" y="3932808"/>
            <a:ext cx="2810632" cy="22602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D31BA42-88C5-4EAB-816C-C4C63C3B92F7}"/>
              </a:ext>
            </a:extLst>
          </p:cNvPr>
          <p:cNvSpPr txBox="1"/>
          <p:nvPr/>
        </p:nvSpPr>
        <p:spPr>
          <a:xfrm>
            <a:off x="11582538" y="6576563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13</a:t>
            </a:r>
            <a:r>
              <a:rPr lang="en-TH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endParaRPr lang="en-TH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FFCE736-5551-4B90-A414-D77C937B700A}"/>
                  </a:ext>
                </a:extLst>
              </p:cNvPr>
              <p:cNvSpPr txBox="1"/>
              <p:nvPr/>
            </p:nvSpPr>
            <p:spPr>
              <a:xfrm>
                <a:off x="209736" y="2570784"/>
                <a:ext cx="5600123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Primary accuracy: </a:t>
                </a:r>
                <a:r>
                  <a:rPr lang="en-GB" sz="1600" b="1" dirty="0" err="1"/>
                  <a:t>XGBoost</a:t>
                </a:r>
                <a:r>
                  <a:rPr lang="en-GB" sz="1600" b="1" dirty="0"/>
                  <a:t> 99.37% </a:t>
                </a:r>
                <a:r>
                  <a:rPr lang="en-GB" sz="1600" dirty="0"/>
                  <a:t>(25-fold repeated CV, </a:t>
                </a:r>
                <a:br>
                  <a:rPr lang="en-GB" sz="16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GB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GB" sz="1600" dirty="0"/>
                  <a:t> 1.7%) – statistically robust estimate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Confirmed by Random Forest (RF) and SVM: 100% under chip-aware </a:t>
                </a:r>
                <a:r>
                  <a:rPr lang="en-GB" sz="1600" dirty="0" err="1"/>
                  <a:t>GroupKFold</a:t>
                </a:r>
                <a:r>
                  <a:rPr lang="en-GB" sz="1600" dirty="0"/>
                  <a:t> (k=5) evaluation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Consistent across 3 independent model -&gt; result reflects the data, not the model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FFCE736-5551-4B90-A414-D77C937B7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36" y="2570784"/>
                <a:ext cx="5600123" cy="1569660"/>
              </a:xfrm>
              <a:prstGeom prst="rect">
                <a:avLst/>
              </a:prstGeom>
              <a:blipFill>
                <a:blip r:embed="rId6"/>
                <a:stretch>
                  <a:fillRect l="-435" t="-1167" r="-653" b="-42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7D854D7-1FF8-41F9-8828-EE0E20E02B56}"/>
              </a:ext>
            </a:extLst>
          </p:cNvPr>
          <p:cNvSpPr txBox="1"/>
          <p:nvPr/>
        </p:nvSpPr>
        <p:spPr>
          <a:xfrm>
            <a:off x="4031429" y="5257972"/>
            <a:ext cx="17471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Shuffled-label control: 32.3%</a:t>
            </a:r>
            <a:br>
              <a:rPr lang="en-GB" sz="1600" dirty="0"/>
            </a:br>
            <a:r>
              <a:rPr lang="en-GB" sz="1600" dirty="0"/>
              <a:t>-&gt; signal is genuine, not artefact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A3F57E6-F16C-4EDA-A835-C8E6A060155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7524" b="18649"/>
          <a:stretch/>
        </p:blipFill>
        <p:spPr>
          <a:xfrm>
            <a:off x="298449" y="4243856"/>
            <a:ext cx="3701493" cy="226028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881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15B05DF-3125-4376-9E27-21E3AFADB4C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25158"/>
          </a:xfrm>
          <a:prstGeom prst="rect">
            <a:avLst/>
          </a:prstGeom>
          <a:solidFill>
            <a:srgbClr val="295572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TH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GB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Results: Accuracy by reagent</a:t>
            </a:r>
            <a:endParaRPr lang="en-TH" sz="36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180D0FD-C69A-4155-8A4A-E96E31C9F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634657"/>
              </p:ext>
            </p:extLst>
          </p:nvPr>
        </p:nvGraphicFramePr>
        <p:xfrm>
          <a:off x="266867" y="1118824"/>
          <a:ext cx="5669338" cy="3610958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715789">
                  <a:extLst>
                    <a:ext uri="{9D8B030D-6E8A-4147-A177-3AD203B41FA5}">
                      <a16:colId xmlns:a16="http://schemas.microsoft.com/office/drawing/2014/main" val="1372465334"/>
                    </a:ext>
                  </a:extLst>
                </a:gridCol>
                <a:gridCol w="1119049">
                  <a:extLst>
                    <a:ext uri="{9D8B030D-6E8A-4147-A177-3AD203B41FA5}">
                      <a16:colId xmlns:a16="http://schemas.microsoft.com/office/drawing/2014/main" val="950273255"/>
                    </a:ext>
                  </a:extLst>
                </a:gridCol>
                <a:gridCol w="1417250">
                  <a:extLst>
                    <a:ext uri="{9D8B030D-6E8A-4147-A177-3AD203B41FA5}">
                      <a16:colId xmlns:a16="http://schemas.microsoft.com/office/drawing/2014/main" val="3695707456"/>
                    </a:ext>
                  </a:extLst>
                </a:gridCol>
                <a:gridCol w="1417250">
                  <a:extLst>
                    <a:ext uri="{9D8B030D-6E8A-4147-A177-3AD203B41FA5}">
                      <a16:colId xmlns:a16="http://schemas.microsoft.com/office/drawing/2014/main" val="3112319640"/>
                    </a:ext>
                  </a:extLst>
                </a:gridCol>
              </a:tblGrid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Model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Reagent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Mean Score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Std Dev</a:t>
                      </a:r>
                    </a:p>
                  </a:txBody>
                  <a:tcPr marL="26452" marR="26452" marT="17634" marB="17634" anchor="b"/>
                </a:tc>
                <a:extLst>
                  <a:ext uri="{0D108BD9-81ED-4DB2-BD59-A6C34878D82A}">
                    <a16:rowId xmlns:a16="http://schemas.microsoft.com/office/drawing/2014/main" val="3167941952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 err="1">
                          <a:effectLst/>
                        </a:rPr>
                        <a:t>XGBoost</a:t>
                      </a:r>
                      <a:endParaRPr lang="en-GB" sz="1500" dirty="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0.9937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0.017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881062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 err="1">
                          <a:effectLst/>
                        </a:rPr>
                        <a:t>Alg</a:t>
                      </a:r>
                      <a:endParaRPr lang="en-GB" sz="1500" dirty="0">
                        <a:effectLst/>
                      </a:endParaRP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0.9335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0.056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843417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Tan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0.9376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0.054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169430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Gal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0.9520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0.054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560035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Random Forest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187850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 err="1">
                          <a:effectLst/>
                        </a:rPr>
                        <a:t>Alg</a:t>
                      </a:r>
                      <a:endParaRPr lang="en-GB" sz="1500" dirty="0">
                        <a:effectLst/>
                      </a:endParaRP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899827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Tan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0.9917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0.019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807513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Gal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859759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SVM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32635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 err="1">
                          <a:effectLst/>
                        </a:rPr>
                        <a:t>Alg</a:t>
                      </a:r>
                      <a:endParaRPr lang="en-GB" sz="1500" dirty="0">
                        <a:effectLst/>
                      </a:endParaRP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31804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Tan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0.9917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0.019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462904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Gal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77281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789B5FA0-5183-4B8A-B2F5-88F3B5340145}"/>
              </a:ext>
            </a:extLst>
          </p:cNvPr>
          <p:cNvSpPr txBox="1"/>
          <p:nvPr/>
        </p:nvSpPr>
        <p:spPr>
          <a:xfrm>
            <a:off x="11582538" y="6576563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14</a:t>
            </a:r>
            <a:r>
              <a:rPr lang="en-TH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endParaRPr lang="en-TH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8D5673-1494-9A4D-825B-E7A49DB4DF65}"/>
              </a:ext>
            </a:extLst>
          </p:cNvPr>
          <p:cNvSpPr txBox="1"/>
          <p:nvPr/>
        </p:nvSpPr>
        <p:spPr>
          <a:xfrm>
            <a:off x="266867" y="4862893"/>
            <a:ext cx="56001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High accuracy</a:t>
            </a:r>
            <a:r>
              <a:rPr lang="en-GB" sz="2000" dirty="0"/>
              <a:t> confirmed across all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Largest </a:t>
            </a:r>
            <a:r>
              <a:rPr lang="en-GB" sz="2000" b="1" dirty="0" err="1"/>
              <a:t>XGBoost</a:t>
            </a:r>
            <a:r>
              <a:rPr lang="en-GB" sz="2000" b="1" dirty="0"/>
              <a:t> variance</a:t>
            </a:r>
            <a:r>
              <a:rPr lang="en-GB" sz="2000" dirty="0"/>
              <a:t> among reagents</a:t>
            </a:r>
            <a:br>
              <a:rPr lang="en-GB" sz="2000" dirty="0"/>
            </a:br>
            <a:r>
              <a:rPr lang="en-GB" sz="2000" dirty="0"/>
              <a:t>-&gt; signal slightly condition-sensitive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E2A21E-E4EB-469F-B4F7-59999208DA5F}"/>
              </a:ext>
            </a:extLst>
          </p:cNvPr>
          <p:cNvSpPr txBox="1"/>
          <p:nvPr/>
        </p:nvSpPr>
        <p:spPr>
          <a:xfrm>
            <a:off x="8661093" y="3549127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latin typeface="Consolas" panose="020B0609020204030204" pitchFamily="49" charset="0"/>
              </a:rPr>
              <a:t>XGBoost</a:t>
            </a:r>
            <a:endParaRPr lang="en-GB" sz="12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D592B7-276B-4228-8282-A44246DAB262}"/>
              </a:ext>
            </a:extLst>
          </p:cNvPr>
          <p:cNvSpPr txBox="1"/>
          <p:nvPr/>
        </p:nvSpPr>
        <p:spPr>
          <a:xfrm>
            <a:off x="6856748" y="6299563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nsolas" panose="020B0609020204030204" pitchFamily="49" charset="0"/>
              </a:rPr>
              <a:t>Random Forest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8E8D9D-CA01-4621-8E5D-368BA1117932}"/>
              </a:ext>
            </a:extLst>
          </p:cNvPr>
          <p:cNvSpPr txBox="1"/>
          <p:nvPr/>
        </p:nvSpPr>
        <p:spPr>
          <a:xfrm>
            <a:off x="10273525" y="6299564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nsolas" panose="020B0609020204030204" pitchFamily="49" charset="0"/>
              </a:rPr>
              <a:t>SVM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5A3EBB-C5CB-46F5-A045-1EBEA0F38A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608271" y="1229020"/>
            <a:ext cx="2885025" cy="2320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AC86D8D-8EB1-4660-81A7-F9C267CC2C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3932808"/>
            <a:ext cx="2810632" cy="2260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4D469A9-5B52-4C08-BA69-70D996CF1B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50785" y="3932808"/>
            <a:ext cx="2810632" cy="22602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65042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15B05DF-3125-4376-9E27-21E3AFADB4C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25158"/>
          </a:xfrm>
          <a:prstGeom prst="rect">
            <a:avLst/>
          </a:prstGeom>
          <a:solidFill>
            <a:srgbClr val="295572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TH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GB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Results: Accuracy by reagent</a:t>
            </a:r>
            <a:endParaRPr lang="en-TH" sz="36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180D0FD-C69A-4155-8A4A-E96E31C9F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867864"/>
              </p:ext>
            </p:extLst>
          </p:nvPr>
        </p:nvGraphicFramePr>
        <p:xfrm>
          <a:off x="266867" y="1118824"/>
          <a:ext cx="5669339" cy="3610958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715789">
                  <a:extLst>
                    <a:ext uri="{9D8B030D-6E8A-4147-A177-3AD203B41FA5}">
                      <a16:colId xmlns:a16="http://schemas.microsoft.com/office/drawing/2014/main" val="1372465334"/>
                    </a:ext>
                  </a:extLst>
                </a:gridCol>
                <a:gridCol w="1119050">
                  <a:extLst>
                    <a:ext uri="{9D8B030D-6E8A-4147-A177-3AD203B41FA5}">
                      <a16:colId xmlns:a16="http://schemas.microsoft.com/office/drawing/2014/main" val="950273255"/>
                    </a:ext>
                  </a:extLst>
                </a:gridCol>
                <a:gridCol w="1417250">
                  <a:extLst>
                    <a:ext uri="{9D8B030D-6E8A-4147-A177-3AD203B41FA5}">
                      <a16:colId xmlns:a16="http://schemas.microsoft.com/office/drawing/2014/main" val="3695707456"/>
                    </a:ext>
                  </a:extLst>
                </a:gridCol>
                <a:gridCol w="1417250">
                  <a:extLst>
                    <a:ext uri="{9D8B030D-6E8A-4147-A177-3AD203B41FA5}">
                      <a16:colId xmlns:a16="http://schemas.microsoft.com/office/drawing/2014/main" val="3112319640"/>
                    </a:ext>
                  </a:extLst>
                </a:gridCol>
              </a:tblGrid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Model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Reagent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Mean Score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Std Dev</a:t>
                      </a:r>
                    </a:p>
                  </a:txBody>
                  <a:tcPr marL="26452" marR="26452" marT="17634" marB="17634" anchor="b"/>
                </a:tc>
                <a:extLst>
                  <a:ext uri="{0D108BD9-81ED-4DB2-BD59-A6C34878D82A}">
                    <a16:rowId xmlns:a16="http://schemas.microsoft.com/office/drawing/2014/main" val="3167941952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 err="1">
                          <a:effectLst/>
                        </a:rPr>
                        <a:t>XGBoost</a:t>
                      </a:r>
                      <a:endParaRPr lang="en-GB" sz="1500" dirty="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0.9937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0.017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881062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 err="1">
                          <a:effectLst/>
                        </a:rPr>
                        <a:t>Alg</a:t>
                      </a:r>
                      <a:endParaRPr lang="en-GB" sz="1500" dirty="0">
                        <a:effectLst/>
                      </a:endParaRP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0.9335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0.056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843417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Tan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0.9376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0.054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169430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Gal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0.9520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0.054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560035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Random Forest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187850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 err="1">
                          <a:effectLst/>
                        </a:rPr>
                        <a:t>Alg</a:t>
                      </a:r>
                      <a:endParaRPr lang="en-GB" sz="1500" dirty="0">
                        <a:effectLst/>
                      </a:endParaRP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899827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Tan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0.9917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0.019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807513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Gal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859759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SVM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32635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 err="1">
                          <a:effectLst/>
                        </a:rPr>
                        <a:t>Alg</a:t>
                      </a:r>
                      <a:endParaRPr lang="en-GB" sz="1500" dirty="0">
                        <a:effectLst/>
                      </a:endParaRP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31804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Tan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0.9917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0.019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462904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Gal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77281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789B5FA0-5183-4B8A-B2F5-88F3B5340145}"/>
              </a:ext>
            </a:extLst>
          </p:cNvPr>
          <p:cNvSpPr txBox="1"/>
          <p:nvPr/>
        </p:nvSpPr>
        <p:spPr>
          <a:xfrm>
            <a:off x="11582538" y="6576563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</a:t>
            </a:r>
            <a:r>
              <a:rPr lang="en-TH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endParaRPr lang="en-TH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987BF3-8997-4331-84B4-8D15F295705C}"/>
              </a:ext>
            </a:extLst>
          </p:cNvPr>
          <p:cNvSpPr txBox="1"/>
          <p:nvPr/>
        </p:nvSpPr>
        <p:spPr>
          <a:xfrm>
            <a:off x="8661093" y="3549127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latin typeface="Consolas" panose="020B0609020204030204" pitchFamily="49" charset="0"/>
              </a:rPr>
              <a:t>XGBoost</a:t>
            </a:r>
            <a:endParaRPr lang="en-GB" sz="12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CA64EA-F5D9-49CD-8AE9-7DCD9C1BBE43}"/>
              </a:ext>
            </a:extLst>
          </p:cNvPr>
          <p:cNvSpPr txBox="1"/>
          <p:nvPr/>
        </p:nvSpPr>
        <p:spPr>
          <a:xfrm>
            <a:off x="6856748" y="6299563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nsolas" panose="020B0609020204030204" pitchFamily="49" charset="0"/>
              </a:rPr>
              <a:t>Random Forest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7C1CCC-0B6B-4257-ADCA-2B4187EC34C1}"/>
              </a:ext>
            </a:extLst>
          </p:cNvPr>
          <p:cNvSpPr txBox="1"/>
          <p:nvPr/>
        </p:nvSpPr>
        <p:spPr>
          <a:xfrm>
            <a:off x="10273525" y="6299564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nsolas" panose="020B0609020204030204" pitchFamily="49" charset="0"/>
              </a:rPr>
              <a:t>SVM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3715458-C6A0-4F3C-9370-7B1D463B48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608271" y="1229020"/>
            <a:ext cx="2885025" cy="2320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59A91D1-0C97-463C-AD41-A6F4ED5C10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3932808"/>
            <a:ext cx="2810632" cy="2260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9E79B33-7D53-4899-BC64-CEE8EF6175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50785" y="3932808"/>
            <a:ext cx="2810632" cy="22602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63C6585-0C29-4CBE-91F0-78D2852DEE58}"/>
              </a:ext>
            </a:extLst>
          </p:cNvPr>
          <p:cNvSpPr txBox="1"/>
          <p:nvPr/>
        </p:nvSpPr>
        <p:spPr>
          <a:xfrm>
            <a:off x="266867" y="4862893"/>
            <a:ext cx="56001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b="1" dirty="0"/>
              <a:t>Lowest accuracy</a:t>
            </a:r>
            <a:r>
              <a:rPr lang="en-GB" dirty="0"/>
              <a:t> of three reagents across all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Tannin’s polyphenolic structure may produce overlapping electrochemical signal signatures between certain metal species under some buffer conditions, making the classification boundary less sharp compared to other two reagents</a:t>
            </a:r>
          </a:p>
        </p:txBody>
      </p:sp>
    </p:spTree>
    <p:extLst>
      <p:ext uri="{BB962C8B-B14F-4D97-AF65-F5344CB8AC3E}">
        <p14:creationId xmlns:p14="http://schemas.microsoft.com/office/powerpoint/2010/main" val="3123631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15B05DF-3125-4376-9E27-21E3AFADB4C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25158"/>
          </a:xfrm>
          <a:prstGeom prst="rect">
            <a:avLst/>
          </a:prstGeom>
          <a:solidFill>
            <a:srgbClr val="295572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TH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GB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Results: Accuracy by reagent</a:t>
            </a:r>
            <a:endParaRPr lang="en-TH" sz="36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180D0FD-C69A-4155-8A4A-E96E31C9F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752160"/>
              </p:ext>
            </p:extLst>
          </p:nvPr>
        </p:nvGraphicFramePr>
        <p:xfrm>
          <a:off x="266866" y="1118824"/>
          <a:ext cx="5669337" cy="3610958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715789">
                  <a:extLst>
                    <a:ext uri="{9D8B030D-6E8A-4147-A177-3AD203B41FA5}">
                      <a16:colId xmlns:a16="http://schemas.microsoft.com/office/drawing/2014/main" val="1372465334"/>
                    </a:ext>
                  </a:extLst>
                </a:gridCol>
                <a:gridCol w="1119050">
                  <a:extLst>
                    <a:ext uri="{9D8B030D-6E8A-4147-A177-3AD203B41FA5}">
                      <a16:colId xmlns:a16="http://schemas.microsoft.com/office/drawing/2014/main" val="950273255"/>
                    </a:ext>
                  </a:extLst>
                </a:gridCol>
                <a:gridCol w="1417249">
                  <a:extLst>
                    <a:ext uri="{9D8B030D-6E8A-4147-A177-3AD203B41FA5}">
                      <a16:colId xmlns:a16="http://schemas.microsoft.com/office/drawing/2014/main" val="3695707456"/>
                    </a:ext>
                  </a:extLst>
                </a:gridCol>
                <a:gridCol w="1417249">
                  <a:extLst>
                    <a:ext uri="{9D8B030D-6E8A-4147-A177-3AD203B41FA5}">
                      <a16:colId xmlns:a16="http://schemas.microsoft.com/office/drawing/2014/main" val="3112319640"/>
                    </a:ext>
                  </a:extLst>
                </a:gridCol>
              </a:tblGrid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Model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Reagent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Mean Score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Std Dev</a:t>
                      </a:r>
                    </a:p>
                  </a:txBody>
                  <a:tcPr marL="26452" marR="26452" marT="17634" marB="17634" anchor="b"/>
                </a:tc>
                <a:extLst>
                  <a:ext uri="{0D108BD9-81ED-4DB2-BD59-A6C34878D82A}">
                    <a16:rowId xmlns:a16="http://schemas.microsoft.com/office/drawing/2014/main" val="3167941952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 err="1">
                          <a:effectLst/>
                        </a:rPr>
                        <a:t>XGBoost</a:t>
                      </a:r>
                      <a:endParaRPr lang="en-GB" sz="1500" dirty="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0.9937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0.017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881062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 err="1">
                          <a:effectLst/>
                        </a:rPr>
                        <a:t>Alg</a:t>
                      </a:r>
                      <a:endParaRPr lang="en-GB" sz="1500" dirty="0">
                        <a:effectLst/>
                      </a:endParaRP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0.9335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0.056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843417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Tan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0.9376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0.054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169430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Gal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0.9520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0.054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560035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Random Forest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187850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 err="1">
                          <a:effectLst/>
                        </a:rPr>
                        <a:t>Alg</a:t>
                      </a:r>
                      <a:endParaRPr lang="en-GB" sz="1500" dirty="0">
                        <a:effectLst/>
                      </a:endParaRP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899827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Tan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0.9917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0.019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807513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Gal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859759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SVM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32635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 err="1">
                          <a:effectLst/>
                        </a:rPr>
                        <a:t>Alg</a:t>
                      </a:r>
                      <a:endParaRPr lang="en-GB" sz="1500" dirty="0">
                        <a:effectLst/>
                      </a:endParaRP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31804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Tan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0.9917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0.019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462904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Gal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77281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789B5FA0-5183-4B8A-B2F5-88F3B5340145}"/>
              </a:ext>
            </a:extLst>
          </p:cNvPr>
          <p:cNvSpPr txBox="1"/>
          <p:nvPr/>
        </p:nvSpPr>
        <p:spPr>
          <a:xfrm>
            <a:off x="11582538" y="6576563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  <a:r>
              <a:rPr lang="en-TH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endParaRPr lang="en-TH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120B9F-0851-42F9-99BA-10F6E09C9877}"/>
              </a:ext>
            </a:extLst>
          </p:cNvPr>
          <p:cNvSpPr txBox="1"/>
          <p:nvPr/>
        </p:nvSpPr>
        <p:spPr>
          <a:xfrm>
            <a:off x="8661093" y="3549127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latin typeface="Consolas" panose="020B0609020204030204" pitchFamily="49" charset="0"/>
              </a:rPr>
              <a:t>XGBoost</a:t>
            </a:r>
            <a:endParaRPr lang="en-GB" sz="12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E60A31-7E91-4F2E-8112-8BF27FB2EAC2}"/>
              </a:ext>
            </a:extLst>
          </p:cNvPr>
          <p:cNvSpPr txBox="1"/>
          <p:nvPr/>
        </p:nvSpPr>
        <p:spPr>
          <a:xfrm>
            <a:off x="6856748" y="6299563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nsolas" panose="020B0609020204030204" pitchFamily="49" charset="0"/>
              </a:rPr>
              <a:t>Random Forest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B1A1BA-7BC9-47D8-8CBA-003D47CEC044}"/>
              </a:ext>
            </a:extLst>
          </p:cNvPr>
          <p:cNvSpPr txBox="1"/>
          <p:nvPr/>
        </p:nvSpPr>
        <p:spPr>
          <a:xfrm>
            <a:off x="10273525" y="6299564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nsolas" panose="020B0609020204030204" pitchFamily="49" charset="0"/>
              </a:rPr>
              <a:t>SVM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158728D-3E82-4A3B-9B6E-5E4D77C1C7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608271" y="1229020"/>
            <a:ext cx="2885025" cy="2320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EF51458-0131-48B5-8C70-2AD87FBF4F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3932808"/>
            <a:ext cx="2810632" cy="2260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F9D6483-FEED-4660-AE19-FF45DA8F44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50785" y="3932808"/>
            <a:ext cx="2810632" cy="22602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B58A33F-0858-442C-854A-1F444B387BF7}"/>
              </a:ext>
            </a:extLst>
          </p:cNvPr>
          <p:cNvSpPr txBox="1"/>
          <p:nvPr/>
        </p:nvSpPr>
        <p:spPr>
          <a:xfrm>
            <a:off x="266867" y="4862893"/>
            <a:ext cx="5600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Best-performing reagent</a:t>
            </a:r>
            <a:r>
              <a:rPr lang="en-GB" sz="2000" dirty="0"/>
              <a:t> across all models</a:t>
            </a:r>
          </a:p>
        </p:txBody>
      </p:sp>
    </p:spTree>
    <p:extLst>
      <p:ext uri="{BB962C8B-B14F-4D97-AF65-F5344CB8AC3E}">
        <p14:creationId xmlns:p14="http://schemas.microsoft.com/office/powerpoint/2010/main" val="4016782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15B05DF-3125-4376-9E27-21E3AFADB4C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25158"/>
          </a:xfrm>
          <a:prstGeom prst="rect">
            <a:avLst/>
          </a:prstGeom>
          <a:solidFill>
            <a:srgbClr val="295572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TH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GB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Results: Accuracy by condition</a:t>
            </a:r>
            <a:endParaRPr lang="en-TH" sz="36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180D0FD-C69A-4155-8A4A-E96E31C9F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848614"/>
              </p:ext>
            </p:extLst>
          </p:nvPr>
        </p:nvGraphicFramePr>
        <p:xfrm>
          <a:off x="266866" y="1118824"/>
          <a:ext cx="5669337" cy="444425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715789">
                  <a:extLst>
                    <a:ext uri="{9D8B030D-6E8A-4147-A177-3AD203B41FA5}">
                      <a16:colId xmlns:a16="http://schemas.microsoft.com/office/drawing/2014/main" val="1372465334"/>
                    </a:ext>
                  </a:extLst>
                </a:gridCol>
                <a:gridCol w="1119050">
                  <a:extLst>
                    <a:ext uri="{9D8B030D-6E8A-4147-A177-3AD203B41FA5}">
                      <a16:colId xmlns:a16="http://schemas.microsoft.com/office/drawing/2014/main" val="950273255"/>
                    </a:ext>
                  </a:extLst>
                </a:gridCol>
                <a:gridCol w="1417249">
                  <a:extLst>
                    <a:ext uri="{9D8B030D-6E8A-4147-A177-3AD203B41FA5}">
                      <a16:colId xmlns:a16="http://schemas.microsoft.com/office/drawing/2014/main" val="3695707456"/>
                    </a:ext>
                  </a:extLst>
                </a:gridCol>
                <a:gridCol w="1417249">
                  <a:extLst>
                    <a:ext uri="{9D8B030D-6E8A-4147-A177-3AD203B41FA5}">
                      <a16:colId xmlns:a16="http://schemas.microsoft.com/office/drawing/2014/main" val="3112319640"/>
                    </a:ext>
                  </a:extLst>
                </a:gridCol>
              </a:tblGrid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Model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Condition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Mean Score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Std Dev</a:t>
                      </a:r>
                    </a:p>
                  </a:txBody>
                  <a:tcPr marL="26452" marR="26452" marT="17634" marB="17634" anchor="b"/>
                </a:tc>
                <a:extLst>
                  <a:ext uri="{0D108BD9-81ED-4DB2-BD59-A6C34878D82A}">
                    <a16:rowId xmlns:a16="http://schemas.microsoft.com/office/drawing/2014/main" val="3167941952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 err="1">
                          <a:effectLst/>
                        </a:rPr>
                        <a:t>XGBoost</a:t>
                      </a:r>
                      <a:endParaRPr lang="en-GB" sz="1500" dirty="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0.9937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0.017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881062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DI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0.8958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0.080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843417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PBS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0.9088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0.067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169430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NaCl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0.9645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0.029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560035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RSW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0.9540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0.053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496325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Random Forest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187850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DI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0.9917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0.019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899827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PBS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0.9583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0.042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807513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NaCl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859759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RSW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37866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>
                          <a:effectLst/>
                        </a:rPr>
                        <a:t>SVM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32635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DI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0.9917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0.019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31804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PBS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462904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NaCl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772816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RSW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444693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235F68CC-1E34-4255-AA4E-80F5371C213C}"/>
              </a:ext>
            </a:extLst>
          </p:cNvPr>
          <p:cNvSpPr txBox="1"/>
          <p:nvPr/>
        </p:nvSpPr>
        <p:spPr>
          <a:xfrm>
            <a:off x="11582538" y="6576563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17</a:t>
            </a:r>
            <a:r>
              <a:rPr lang="en-TH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endParaRPr lang="en-TH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052EAA-CCE6-7D4E-B587-7069305CD024}"/>
              </a:ext>
            </a:extLst>
          </p:cNvPr>
          <p:cNvSpPr txBox="1"/>
          <p:nvPr/>
        </p:nvSpPr>
        <p:spPr>
          <a:xfrm>
            <a:off x="221428" y="5690904"/>
            <a:ext cx="56001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XGBoost</a:t>
            </a:r>
            <a:r>
              <a:rPr lang="en-GB" dirty="0"/>
              <a:t> shows </a:t>
            </a:r>
            <a:r>
              <a:rPr lang="en-GB" b="1" dirty="0"/>
              <a:t>lowest accuracy</a:t>
            </a:r>
            <a:r>
              <a:rPr lang="en-GB" dirty="0"/>
              <a:t> and </a:t>
            </a:r>
            <a:r>
              <a:rPr lang="en-GB" b="1" dirty="0"/>
              <a:t>highest variance</a:t>
            </a:r>
            <a:r>
              <a:rPr lang="en-GB" dirty="0"/>
              <a:t> of all conditions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RF and SVM each misclassified one sample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39E517-0068-4E78-99F5-ACC96640C249}"/>
              </a:ext>
            </a:extLst>
          </p:cNvPr>
          <p:cNvSpPr txBox="1"/>
          <p:nvPr/>
        </p:nvSpPr>
        <p:spPr>
          <a:xfrm>
            <a:off x="8661093" y="3549127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latin typeface="Consolas" panose="020B0609020204030204" pitchFamily="49" charset="0"/>
              </a:rPr>
              <a:t>XGBoost</a:t>
            </a:r>
            <a:endParaRPr lang="en-GB" sz="12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BB01B7-08BE-47FF-9DEF-62AB1CEEF0DD}"/>
              </a:ext>
            </a:extLst>
          </p:cNvPr>
          <p:cNvSpPr txBox="1"/>
          <p:nvPr/>
        </p:nvSpPr>
        <p:spPr>
          <a:xfrm>
            <a:off x="6856748" y="6299563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nsolas" panose="020B0609020204030204" pitchFamily="49" charset="0"/>
              </a:rPr>
              <a:t>Random Forest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AD25AC-6B1D-4E7E-8000-3005A93EE125}"/>
              </a:ext>
            </a:extLst>
          </p:cNvPr>
          <p:cNvSpPr txBox="1"/>
          <p:nvPr/>
        </p:nvSpPr>
        <p:spPr>
          <a:xfrm>
            <a:off x="10273525" y="6299564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nsolas" panose="020B0609020204030204" pitchFamily="49" charset="0"/>
              </a:rPr>
              <a:t>SVM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B10C714-B6A6-4EC9-8577-DCB47CAF64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608271" y="1229020"/>
            <a:ext cx="2885025" cy="23201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B62F32-5386-4D10-8944-FA729D3599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3932808"/>
            <a:ext cx="2810631" cy="2260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8169952-770F-4EA5-B4DE-A85241A435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50785" y="3932808"/>
            <a:ext cx="2810631" cy="22602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32411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15B05DF-3125-4376-9E27-21E3AFADB4C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25158"/>
          </a:xfrm>
          <a:prstGeom prst="rect">
            <a:avLst/>
          </a:prstGeom>
          <a:solidFill>
            <a:srgbClr val="295572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TH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GB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Results: Accuracy by condition</a:t>
            </a:r>
            <a:endParaRPr lang="en-TH" sz="36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180D0FD-C69A-4155-8A4A-E96E31C9F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375656"/>
              </p:ext>
            </p:extLst>
          </p:nvPr>
        </p:nvGraphicFramePr>
        <p:xfrm>
          <a:off x="266866" y="1118824"/>
          <a:ext cx="5669337" cy="444425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715789">
                  <a:extLst>
                    <a:ext uri="{9D8B030D-6E8A-4147-A177-3AD203B41FA5}">
                      <a16:colId xmlns:a16="http://schemas.microsoft.com/office/drawing/2014/main" val="1372465334"/>
                    </a:ext>
                  </a:extLst>
                </a:gridCol>
                <a:gridCol w="1119050">
                  <a:extLst>
                    <a:ext uri="{9D8B030D-6E8A-4147-A177-3AD203B41FA5}">
                      <a16:colId xmlns:a16="http://schemas.microsoft.com/office/drawing/2014/main" val="950273255"/>
                    </a:ext>
                  </a:extLst>
                </a:gridCol>
                <a:gridCol w="1417249">
                  <a:extLst>
                    <a:ext uri="{9D8B030D-6E8A-4147-A177-3AD203B41FA5}">
                      <a16:colId xmlns:a16="http://schemas.microsoft.com/office/drawing/2014/main" val="3695707456"/>
                    </a:ext>
                  </a:extLst>
                </a:gridCol>
                <a:gridCol w="1417249">
                  <a:extLst>
                    <a:ext uri="{9D8B030D-6E8A-4147-A177-3AD203B41FA5}">
                      <a16:colId xmlns:a16="http://schemas.microsoft.com/office/drawing/2014/main" val="3112319640"/>
                    </a:ext>
                  </a:extLst>
                </a:gridCol>
              </a:tblGrid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Model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Condition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Mean Score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Std Dev</a:t>
                      </a:r>
                    </a:p>
                  </a:txBody>
                  <a:tcPr marL="26452" marR="26452" marT="17634" marB="17634" anchor="b"/>
                </a:tc>
                <a:extLst>
                  <a:ext uri="{0D108BD9-81ED-4DB2-BD59-A6C34878D82A}">
                    <a16:rowId xmlns:a16="http://schemas.microsoft.com/office/drawing/2014/main" val="3167941952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 err="1">
                          <a:effectLst/>
                        </a:rPr>
                        <a:t>XGBoost</a:t>
                      </a:r>
                      <a:endParaRPr lang="en-GB" sz="1500" dirty="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0.9937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0.017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881062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DI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0.8958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0.080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843417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PBS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0.9088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0.067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169430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NaCl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0.9645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0.029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560035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RSW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0.9540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0.053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496325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Random Forest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187850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DI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0.9917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0.019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899827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PBS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0.9583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0.042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807513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NaCl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859759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RSW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37866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>
                          <a:effectLst/>
                        </a:rPr>
                        <a:t>SVM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32635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DI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0.9917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0.019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31804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PBS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462904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NaCl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772816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RSW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444693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235F68CC-1E34-4255-AA4E-80F5371C213C}"/>
              </a:ext>
            </a:extLst>
          </p:cNvPr>
          <p:cNvSpPr txBox="1"/>
          <p:nvPr/>
        </p:nvSpPr>
        <p:spPr>
          <a:xfrm>
            <a:off x="11582538" y="6576563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18</a:t>
            </a:r>
            <a:r>
              <a:rPr lang="en-TH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endParaRPr lang="en-TH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598231-323A-44B1-88E9-1BA050ADFA7B}"/>
              </a:ext>
            </a:extLst>
          </p:cNvPr>
          <p:cNvSpPr txBox="1"/>
          <p:nvPr/>
        </p:nvSpPr>
        <p:spPr>
          <a:xfrm>
            <a:off x="8661093" y="3549127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latin typeface="Consolas" panose="020B0609020204030204" pitchFamily="49" charset="0"/>
              </a:rPr>
              <a:t>XGBoost</a:t>
            </a:r>
            <a:endParaRPr lang="en-GB" sz="12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1DCC8D-46BD-413C-9FA9-9023575E4E46}"/>
              </a:ext>
            </a:extLst>
          </p:cNvPr>
          <p:cNvSpPr txBox="1"/>
          <p:nvPr/>
        </p:nvSpPr>
        <p:spPr>
          <a:xfrm>
            <a:off x="6856748" y="6299563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nsolas" panose="020B0609020204030204" pitchFamily="49" charset="0"/>
              </a:rPr>
              <a:t>Random Forest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7B7314-4619-451A-A222-0F58E13FB538}"/>
              </a:ext>
            </a:extLst>
          </p:cNvPr>
          <p:cNvSpPr txBox="1"/>
          <p:nvPr/>
        </p:nvSpPr>
        <p:spPr>
          <a:xfrm>
            <a:off x="10273525" y="6299564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nsolas" panose="020B0609020204030204" pitchFamily="49" charset="0"/>
              </a:rPr>
              <a:t>SVM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5F1EF2A-A659-49BA-82C2-3B1DA36C9B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608271" y="1229020"/>
            <a:ext cx="2885025" cy="23201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F7B76F2-E87A-4A35-9F56-C045C18FD3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3932808"/>
            <a:ext cx="2810631" cy="2260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9820C53-C1DF-4B79-89AE-F1F256023B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50785" y="3932808"/>
            <a:ext cx="2810631" cy="22602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AB63775-7517-47FB-9406-6FEE49A43004}"/>
              </a:ext>
            </a:extLst>
          </p:cNvPr>
          <p:cNvSpPr txBox="1"/>
          <p:nvPr/>
        </p:nvSpPr>
        <p:spPr>
          <a:xfrm>
            <a:off x="221428" y="5690904"/>
            <a:ext cx="56001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Only condition where RF drops below 99%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Phosphate and saline components may interact with metal species or reagents, causing signal overlap</a:t>
            </a:r>
            <a:br>
              <a:rPr lang="en-GB" sz="1600" dirty="0"/>
            </a:br>
            <a:r>
              <a:rPr lang="en-GB" sz="1600" dirty="0"/>
              <a:t>-&gt; </a:t>
            </a:r>
            <a:r>
              <a:rPr lang="en-GB" sz="1600" b="1" dirty="0"/>
              <a:t>priority target for measurement optimization</a:t>
            </a:r>
          </a:p>
        </p:txBody>
      </p:sp>
    </p:spTree>
    <p:extLst>
      <p:ext uri="{BB962C8B-B14F-4D97-AF65-F5344CB8AC3E}">
        <p14:creationId xmlns:p14="http://schemas.microsoft.com/office/powerpoint/2010/main" val="1170122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15B05DF-3125-4376-9E27-21E3AFADB4C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25158"/>
          </a:xfrm>
          <a:prstGeom prst="rect">
            <a:avLst/>
          </a:prstGeom>
          <a:solidFill>
            <a:srgbClr val="295572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TH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GB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Results: Accuracy by condition</a:t>
            </a:r>
            <a:endParaRPr lang="en-TH" sz="36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180D0FD-C69A-4155-8A4A-E96E31C9F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921772"/>
              </p:ext>
            </p:extLst>
          </p:nvPr>
        </p:nvGraphicFramePr>
        <p:xfrm>
          <a:off x="266866" y="1118824"/>
          <a:ext cx="5669337" cy="444425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715789">
                  <a:extLst>
                    <a:ext uri="{9D8B030D-6E8A-4147-A177-3AD203B41FA5}">
                      <a16:colId xmlns:a16="http://schemas.microsoft.com/office/drawing/2014/main" val="1372465334"/>
                    </a:ext>
                  </a:extLst>
                </a:gridCol>
                <a:gridCol w="1119050">
                  <a:extLst>
                    <a:ext uri="{9D8B030D-6E8A-4147-A177-3AD203B41FA5}">
                      <a16:colId xmlns:a16="http://schemas.microsoft.com/office/drawing/2014/main" val="950273255"/>
                    </a:ext>
                  </a:extLst>
                </a:gridCol>
                <a:gridCol w="1417249">
                  <a:extLst>
                    <a:ext uri="{9D8B030D-6E8A-4147-A177-3AD203B41FA5}">
                      <a16:colId xmlns:a16="http://schemas.microsoft.com/office/drawing/2014/main" val="3695707456"/>
                    </a:ext>
                  </a:extLst>
                </a:gridCol>
                <a:gridCol w="1417249">
                  <a:extLst>
                    <a:ext uri="{9D8B030D-6E8A-4147-A177-3AD203B41FA5}">
                      <a16:colId xmlns:a16="http://schemas.microsoft.com/office/drawing/2014/main" val="3112319640"/>
                    </a:ext>
                  </a:extLst>
                </a:gridCol>
              </a:tblGrid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Model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Condition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Mean Score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Std Dev</a:t>
                      </a:r>
                    </a:p>
                  </a:txBody>
                  <a:tcPr marL="26452" marR="26452" marT="17634" marB="17634" anchor="b"/>
                </a:tc>
                <a:extLst>
                  <a:ext uri="{0D108BD9-81ED-4DB2-BD59-A6C34878D82A}">
                    <a16:rowId xmlns:a16="http://schemas.microsoft.com/office/drawing/2014/main" val="3167941952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 err="1">
                          <a:effectLst/>
                        </a:rPr>
                        <a:t>XGBoost</a:t>
                      </a:r>
                      <a:endParaRPr lang="en-GB" sz="1500" dirty="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0.9937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0.017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881062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DI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0.8958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0.080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843417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PBS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0.9088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0.067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169430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NaCl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0.9645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0.029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560035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RSW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0.9540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0.053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496325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Random Forest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187850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DI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0.9917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0.019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899827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PBS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0.9583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0.042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807513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NaCl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859759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RSW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37866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>
                          <a:effectLst/>
                        </a:rPr>
                        <a:t>SVM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32635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DI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0.9917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0.019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31804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PBS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462904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NaCl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772816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RSW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444693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235F68CC-1E34-4255-AA4E-80F5371C213C}"/>
              </a:ext>
            </a:extLst>
          </p:cNvPr>
          <p:cNvSpPr txBox="1"/>
          <p:nvPr/>
        </p:nvSpPr>
        <p:spPr>
          <a:xfrm>
            <a:off x="11582538" y="6576563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19</a:t>
            </a:r>
            <a:r>
              <a:rPr lang="en-TH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endParaRPr lang="en-TH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F24336-55DB-496F-AD99-593B8133E487}"/>
              </a:ext>
            </a:extLst>
          </p:cNvPr>
          <p:cNvSpPr txBox="1"/>
          <p:nvPr/>
        </p:nvSpPr>
        <p:spPr>
          <a:xfrm>
            <a:off x="8661093" y="3549127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latin typeface="Consolas" panose="020B0609020204030204" pitchFamily="49" charset="0"/>
              </a:rPr>
              <a:t>XGBoost</a:t>
            </a:r>
            <a:endParaRPr lang="en-GB" sz="12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7B4083-4B23-4114-A7E4-BDDC4E8DBD81}"/>
              </a:ext>
            </a:extLst>
          </p:cNvPr>
          <p:cNvSpPr txBox="1"/>
          <p:nvPr/>
        </p:nvSpPr>
        <p:spPr>
          <a:xfrm>
            <a:off x="6856748" y="6299563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nsolas" panose="020B0609020204030204" pitchFamily="49" charset="0"/>
              </a:rPr>
              <a:t>Random Forest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B65725-F885-4E5B-B4C6-AFE80614AAD3}"/>
              </a:ext>
            </a:extLst>
          </p:cNvPr>
          <p:cNvSpPr txBox="1"/>
          <p:nvPr/>
        </p:nvSpPr>
        <p:spPr>
          <a:xfrm>
            <a:off x="10273525" y="6299564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nsolas" panose="020B0609020204030204" pitchFamily="49" charset="0"/>
              </a:rPr>
              <a:t>SVM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EA3D0FD-9A2D-4E53-A9CE-15F3FED946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608271" y="1229020"/>
            <a:ext cx="2885025" cy="23201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A0C5B0-F08E-4FCC-A82D-BA0A492E26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3932808"/>
            <a:ext cx="2810631" cy="2260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AEC318F-0B43-491D-884A-63C145720C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50785" y="3932808"/>
            <a:ext cx="2810631" cy="22602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A601BD1-62A7-45C8-87AC-4C38452B37B1}"/>
              </a:ext>
            </a:extLst>
          </p:cNvPr>
          <p:cNvSpPr txBox="1"/>
          <p:nvPr/>
        </p:nvSpPr>
        <p:spPr>
          <a:xfrm>
            <a:off x="221428" y="5690904"/>
            <a:ext cx="5600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Best-performing condition</a:t>
            </a:r>
            <a:r>
              <a:rPr lang="en-GB" sz="2000" dirty="0"/>
              <a:t> across all models</a:t>
            </a:r>
          </a:p>
        </p:txBody>
      </p:sp>
    </p:spTree>
    <p:extLst>
      <p:ext uri="{BB962C8B-B14F-4D97-AF65-F5344CB8AC3E}">
        <p14:creationId xmlns:p14="http://schemas.microsoft.com/office/powerpoint/2010/main" val="19885282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15B05DF-3125-4376-9E27-21E3AFADB4C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25158"/>
          </a:xfrm>
          <a:prstGeom prst="rect">
            <a:avLst/>
          </a:prstGeom>
          <a:solidFill>
            <a:srgbClr val="295572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TH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GB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Results: Accuracy by condition</a:t>
            </a:r>
            <a:endParaRPr lang="en-TH" sz="36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180D0FD-C69A-4155-8A4A-E96E31C9F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671688"/>
              </p:ext>
            </p:extLst>
          </p:nvPr>
        </p:nvGraphicFramePr>
        <p:xfrm>
          <a:off x="266866" y="1118824"/>
          <a:ext cx="5669337" cy="444425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715789">
                  <a:extLst>
                    <a:ext uri="{9D8B030D-6E8A-4147-A177-3AD203B41FA5}">
                      <a16:colId xmlns:a16="http://schemas.microsoft.com/office/drawing/2014/main" val="1372465334"/>
                    </a:ext>
                  </a:extLst>
                </a:gridCol>
                <a:gridCol w="1119050">
                  <a:extLst>
                    <a:ext uri="{9D8B030D-6E8A-4147-A177-3AD203B41FA5}">
                      <a16:colId xmlns:a16="http://schemas.microsoft.com/office/drawing/2014/main" val="950273255"/>
                    </a:ext>
                  </a:extLst>
                </a:gridCol>
                <a:gridCol w="1417249">
                  <a:extLst>
                    <a:ext uri="{9D8B030D-6E8A-4147-A177-3AD203B41FA5}">
                      <a16:colId xmlns:a16="http://schemas.microsoft.com/office/drawing/2014/main" val="3695707456"/>
                    </a:ext>
                  </a:extLst>
                </a:gridCol>
                <a:gridCol w="1417249">
                  <a:extLst>
                    <a:ext uri="{9D8B030D-6E8A-4147-A177-3AD203B41FA5}">
                      <a16:colId xmlns:a16="http://schemas.microsoft.com/office/drawing/2014/main" val="3112319640"/>
                    </a:ext>
                  </a:extLst>
                </a:gridCol>
              </a:tblGrid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Model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Condition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Mean Score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b="1" dirty="0">
                          <a:effectLst/>
                        </a:rPr>
                        <a:t>Std Dev</a:t>
                      </a:r>
                    </a:p>
                  </a:txBody>
                  <a:tcPr marL="26452" marR="26452" marT="17634" marB="17634" anchor="b"/>
                </a:tc>
                <a:extLst>
                  <a:ext uri="{0D108BD9-81ED-4DB2-BD59-A6C34878D82A}">
                    <a16:rowId xmlns:a16="http://schemas.microsoft.com/office/drawing/2014/main" val="3167941952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 err="1">
                          <a:effectLst/>
                        </a:rPr>
                        <a:t>XGBoost</a:t>
                      </a:r>
                      <a:endParaRPr lang="en-GB" sz="1500" dirty="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0.9937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0.017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881062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DI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0.8958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0.080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843417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PBS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0.9088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0.067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169430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NaCl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0.9645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0.029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560035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RSW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0.9540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0.053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496325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Random Forest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187850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DI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0.9917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0.019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899827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PBS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0.9583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0.042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807513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NaCl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859759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RSW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37866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>
                          <a:effectLst/>
                        </a:rPr>
                        <a:t>SVM</a:t>
                      </a: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all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32635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DI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0.9917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0.019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318048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PBS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462904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NaCl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772816"/>
                  </a:ext>
                </a:extLst>
              </a:tr>
              <a:tr h="277766">
                <a:tc>
                  <a:txBody>
                    <a:bodyPr/>
                    <a:lstStyle/>
                    <a:p>
                      <a:pPr algn="ctr" rtl="0" fontAlgn="b"/>
                      <a:endParaRPr lang="en-GB" sz="1500">
                        <a:effectLst/>
                      </a:endParaRPr>
                    </a:p>
                  </a:txBody>
                  <a:tcPr marL="26452" marR="26452" marT="17634" marB="17634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RSW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1.0000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GB" sz="1500" dirty="0">
                          <a:effectLst/>
                        </a:rPr>
                        <a:t>0.000</a:t>
                      </a:r>
                    </a:p>
                  </a:txBody>
                  <a:tcPr marL="26452" marR="26452" marT="17634" marB="17634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444693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235F68CC-1E34-4255-AA4E-80F5371C213C}"/>
              </a:ext>
            </a:extLst>
          </p:cNvPr>
          <p:cNvSpPr txBox="1"/>
          <p:nvPr/>
        </p:nvSpPr>
        <p:spPr>
          <a:xfrm>
            <a:off x="11582538" y="6576563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TH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endParaRPr lang="en-TH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6EE5FF-33A7-4CC0-B898-8CD22774C2AB}"/>
              </a:ext>
            </a:extLst>
          </p:cNvPr>
          <p:cNvSpPr txBox="1"/>
          <p:nvPr/>
        </p:nvSpPr>
        <p:spPr>
          <a:xfrm>
            <a:off x="8661093" y="3549127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latin typeface="Consolas" panose="020B0609020204030204" pitchFamily="49" charset="0"/>
              </a:rPr>
              <a:t>XGBoost</a:t>
            </a:r>
            <a:endParaRPr lang="en-GB" sz="12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FE14C7-39EB-404A-B92F-0B2FAA28E5A1}"/>
              </a:ext>
            </a:extLst>
          </p:cNvPr>
          <p:cNvSpPr txBox="1"/>
          <p:nvPr/>
        </p:nvSpPr>
        <p:spPr>
          <a:xfrm>
            <a:off x="6856748" y="6299563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nsolas" panose="020B0609020204030204" pitchFamily="49" charset="0"/>
              </a:rPr>
              <a:t>Random Forest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9D0A0F-31A2-4B2D-BC13-9630887316B6}"/>
              </a:ext>
            </a:extLst>
          </p:cNvPr>
          <p:cNvSpPr txBox="1"/>
          <p:nvPr/>
        </p:nvSpPr>
        <p:spPr>
          <a:xfrm>
            <a:off x="10273525" y="6299564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onsolas" panose="020B0609020204030204" pitchFamily="49" charset="0"/>
              </a:rPr>
              <a:t>SVM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02F73D-E38E-4668-A07E-A0AE3A56A9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608271" y="1229020"/>
            <a:ext cx="2885025" cy="23201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7FAE236-9C1B-4390-BB4A-108E8E4680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3932808"/>
            <a:ext cx="2810631" cy="2260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B10D758-F30E-4802-99DC-EE4140777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50785" y="3932808"/>
            <a:ext cx="2810631" cy="22602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5E30064-D1AD-4098-BDB7-E3C3AC75428E}"/>
              </a:ext>
            </a:extLst>
          </p:cNvPr>
          <p:cNvSpPr txBox="1"/>
          <p:nvPr/>
        </p:nvSpPr>
        <p:spPr>
          <a:xfrm>
            <a:off x="221428" y="5690904"/>
            <a:ext cx="56001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Achieved </a:t>
            </a:r>
            <a:r>
              <a:rPr lang="en-GB" b="1" dirty="0"/>
              <a:t>strong classification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Demonstrates applicability to real environmental water sample conditions</a:t>
            </a:r>
          </a:p>
        </p:txBody>
      </p:sp>
    </p:spTree>
    <p:extLst>
      <p:ext uri="{BB962C8B-B14F-4D97-AF65-F5344CB8AC3E}">
        <p14:creationId xmlns:p14="http://schemas.microsoft.com/office/powerpoint/2010/main" val="917239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183DA95-28C8-6A4A-ABAF-B2F56A0C799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25158"/>
          </a:xfrm>
          <a:prstGeom prst="rect">
            <a:avLst/>
          </a:prstGeom>
          <a:solidFill>
            <a:srgbClr val="295572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 Overfitting analysis</a:t>
            </a:r>
            <a:endParaRPr lang="en-TH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8809F3-827E-40F0-A2C8-7B49358294AA}"/>
              </a:ext>
            </a:extLst>
          </p:cNvPr>
          <p:cNvSpPr txBox="1"/>
          <p:nvPr/>
        </p:nvSpPr>
        <p:spPr>
          <a:xfrm>
            <a:off x="11673430" y="6581001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TH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13</a:t>
            </a:r>
            <a:endParaRPr lang="en-TH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D3FD4D-B5FF-46D3-8950-0D307D81650E}"/>
              </a:ext>
            </a:extLst>
          </p:cNvPr>
          <p:cNvSpPr txBox="1"/>
          <p:nvPr/>
        </p:nvSpPr>
        <p:spPr>
          <a:xfrm>
            <a:off x="11582538" y="6576563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21</a:t>
            </a:r>
            <a:r>
              <a:rPr lang="en-TH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endParaRPr lang="en-TH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F6D7F0-DBC4-4137-A6B0-C94E0A399C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814" b="19153"/>
          <a:stretch/>
        </p:blipFill>
        <p:spPr>
          <a:xfrm>
            <a:off x="6017440" y="2026672"/>
            <a:ext cx="5565098" cy="302895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E4FD61-D102-4C93-945D-D43EF48834C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7524" b="18649"/>
          <a:stretch/>
        </p:blipFill>
        <p:spPr>
          <a:xfrm>
            <a:off x="323850" y="2026671"/>
            <a:ext cx="5493310" cy="302895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A620EF3-9D1C-45D4-B1A3-83C17D60DF3B}"/>
              </a:ext>
            </a:extLst>
          </p:cNvPr>
          <p:cNvSpPr txBox="1"/>
          <p:nvPr/>
        </p:nvSpPr>
        <p:spPr>
          <a:xfrm>
            <a:off x="270443" y="5126774"/>
            <a:ext cx="5600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Shuffled-label control (</a:t>
            </a:r>
            <a:r>
              <a:rPr lang="en-GB" sz="1600" b="1" dirty="0">
                <a:solidFill>
                  <a:srgbClr val="EB6834"/>
                </a:solidFill>
              </a:rPr>
              <a:t>32.3%</a:t>
            </a:r>
            <a:r>
              <a:rPr lang="en-GB" sz="1600" dirty="0"/>
              <a:t>) is near 3-class chance (</a:t>
            </a:r>
            <a:r>
              <a:rPr lang="en-GB" sz="1600" b="1" dirty="0">
                <a:solidFill>
                  <a:schemeClr val="bg2">
                    <a:lumMod val="50000"/>
                  </a:schemeClr>
                </a:solidFill>
              </a:rPr>
              <a:t>33.3%</a:t>
            </a:r>
            <a:r>
              <a:rPr lang="en-GB" sz="1600" dirty="0"/>
              <a:t>)</a:t>
            </a:r>
            <a:br>
              <a:rPr lang="en-GB" sz="1600" dirty="0"/>
            </a:br>
            <a:r>
              <a:rPr lang="en-GB" sz="1600" dirty="0"/>
              <a:t>-&gt; confirms </a:t>
            </a:r>
            <a:r>
              <a:rPr lang="en-GB" sz="1600" b="1" dirty="0"/>
              <a:t>real signal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C5534E-A6B0-4718-A59A-37B3E57283E4}"/>
              </a:ext>
            </a:extLst>
          </p:cNvPr>
          <p:cNvSpPr txBox="1"/>
          <p:nvPr/>
        </p:nvSpPr>
        <p:spPr>
          <a:xfrm>
            <a:off x="6022966" y="5126774"/>
            <a:ext cx="56001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1-NN leave-one-out (</a:t>
            </a:r>
            <a:r>
              <a:rPr lang="en-GB" sz="1600" b="1" dirty="0">
                <a:solidFill>
                  <a:srgbClr val="EB6834"/>
                </a:solidFill>
              </a:rPr>
              <a:t>95.8%</a:t>
            </a:r>
            <a:r>
              <a:rPr lang="en-GB" sz="1600" dirty="0"/>
              <a:t>) is close to </a:t>
            </a:r>
            <a:r>
              <a:rPr lang="en-GB" sz="1600" dirty="0" err="1"/>
              <a:t>XGBoost</a:t>
            </a:r>
            <a:r>
              <a:rPr lang="en-GB" sz="1600" dirty="0"/>
              <a:t> (99.4%), RF (100%) and SVM (100%)</a:t>
            </a:r>
            <a:br>
              <a:rPr lang="en-GB" sz="1600" dirty="0"/>
            </a:br>
            <a:r>
              <a:rPr lang="en-GB" sz="1600" dirty="0"/>
              <a:t>-&gt; confirms that </a:t>
            </a:r>
            <a:r>
              <a:rPr lang="en-GB" sz="1600" b="1" dirty="0"/>
              <a:t>raw feature space is separable without any model fitting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7AF742-A959-46AF-A44D-A8A630B9E13F}"/>
              </a:ext>
            </a:extLst>
          </p:cNvPr>
          <p:cNvSpPr txBox="1"/>
          <p:nvPr/>
        </p:nvSpPr>
        <p:spPr>
          <a:xfrm>
            <a:off x="635382" y="1442125"/>
            <a:ext cx="4870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latin typeface="Consolas" panose="020B0609020204030204" pitchFamily="49" charset="0"/>
              </a:rPr>
              <a:t>Shuffled labels (permutation control)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3E704C-0C8E-4ECD-8C8A-A028F7F7790B}"/>
              </a:ext>
            </a:extLst>
          </p:cNvPr>
          <p:cNvSpPr txBox="1"/>
          <p:nvPr/>
        </p:nvSpPr>
        <p:spPr>
          <a:xfrm>
            <a:off x="6767816" y="1303625"/>
            <a:ext cx="4110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latin typeface="Consolas" panose="020B0609020204030204" pitchFamily="49" charset="0"/>
              </a:rPr>
              <a:t>1-nearest neighbour classifier </a:t>
            </a:r>
          </a:p>
          <a:p>
            <a:pPr algn="ctr"/>
            <a:r>
              <a:rPr lang="en-GB" dirty="0">
                <a:latin typeface="Consolas" panose="020B0609020204030204" pitchFamily="49" charset="0"/>
              </a:rPr>
              <a:t>with leave-one-out evaluation</a:t>
            </a:r>
          </a:p>
        </p:txBody>
      </p:sp>
    </p:spTree>
    <p:extLst>
      <p:ext uri="{BB962C8B-B14F-4D97-AF65-F5344CB8AC3E}">
        <p14:creationId xmlns:p14="http://schemas.microsoft.com/office/powerpoint/2010/main" val="2170074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183DA95-28C8-6A4A-ABAF-B2F56A0C799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25158"/>
          </a:xfrm>
          <a:prstGeom prst="rect">
            <a:avLst/>
          </a:prstGeom>
          <a:solidFill>
            <a:srgbClr val="295572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 Overfitting analysis</a:t>
            </a:r>
            <a:endParaRPr lang="en-TH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8809F3-827E-40F0-A2C8-7B49358294AA}"/>
              </a:ext>
            </a:extLst>
          </p:cNvPr>
          <p:cNvSpPr txBox="1"/>
          <p:nvPr/>
        </p:nvSpPr>
        <p:spPr>
          <a:xfrm>
            <a:off x="11673430" y="6581001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TH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13</a:t>
            </a:r>
            <a:endParaRPr lang="en-TH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D3FD4D-B5FF-46D3-8950-0D307D81650E}"/>
              </a:ext>
            </a:extLst>
          </p:cNvPr>
          <p:cNvSpPr txBox="1"/>
          <p:nvPr/>
        </p:nvSpPr>
        <p:spPr>
          <a:xfrm>
            <a:off x="11582538" y="6576563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22</a:t>
            </a:r>
            <a:r>
              <a:rPr lang="en-TH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endParaRPr lang="en-TH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620EF3-9D1C-45D4-B1A3-83C17D60DF3B}"/>
              </a:ext>
            </a:extLst>
          </p:cNvPr>
          <p:cNvSpPr txBox="1"/>
          <p:nvPr/>
        </p:nvSpPr>
        <p:spPr>
          <a:xfrm>
            <a:off x="270443" y="5126774"/>
            <a:ext cx="56001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Best single feature accuracy (</a:t>
            </a:r>
            <a:r>
              <a:rPr lang="en-GB" sz="1600" b="1" dirty="0">
                <a:solidFill>
                  <a:srgbClr val="EB6834"/>
                </a:solidFill>
              </a:rPr>
              <a:t>67.7%</a:t>
            </a:r>
            <a:r>
              <a:rPr lang="en-GB" sz="1600" dirty="0"/>
              <a:t>) is far below </a:t>
            </a:r>
            <a:r>
              <a:rPr lang="en-GB" sz="1600" dirty="0" err="1"/>
              <a:t>XGBoost</a:t>
            </a:r>
            <a:r>
              <a:rPr lang="en-GB" sz="1600" dirty="0"/>
              <a:t> (99.4%), RF (100%) and SVM (100%)</a:t>
            </a:r>
            <a:br>
              <a:rPr lang="en-GB" sz="1600" dirty="0"/>
            </a:br>
            <a:r>
              <a:rPr lang="en-GB" sz="1600" dirty="0"/>
              <a:t>-&gt; none of the three independent models is reducible to one trivially separating column; </a:t>
            </a:r>
            <a:r>
              <a:rPr lang="en-GB" sz="1600" b="1" dirty="0"/>
              <a:t>each genuinely integrates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8C5534E-A6B0-4718-A59A-37B3E57283E4}"/>
                  </a:ext>
                </a:extLst>
              </p:cNvPr>
              <p:cNvSpPr txBox="1"/>
              <p:nvPr/>
            </p:nvSpPr>
            <p:spPr>
              <a:xfrm>
                <a:off x="6230829" y="4509422"/>
                <a:ext cx="5600123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Mean between-class separation of </a:t>
                </a:r>
                <a:r>
                  <a:rPr lang="en-GB" sz="1600" b="1" dirty="0">
                    <a:solidFill>
                      <a:schemeClr val="bg2">
                        <a:lumMod val="50000"/>
                      </a:schemeClr>
                    </a:solidFill>
                  </a:rPr>
                  <a:t>1.60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GB" sz="1600" b="1" dirty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  <a:r>
                  <a:rPr lang="en-GB" sz="1600" dirty="0"/>
                  <a:t>confirms that arsenic (AS), cadmium (CD) and cobalt (CO) occupy genuinely distinct regions of feature space</a:t>
                </a:r>
                <a:br>
                  <a:rPr lang="en-GB" sz="1600" dirty="0"/>
                </a:br>
                <a:r>
                  <a:rPr lang="en-GB" sz="1600" dirty="0"/>
                  <a:t>-&gt; </a:t>
                </a:r>
                <a:r>
                  <a:rPr lang="en-GB" sz="1600" b="1" dirty="0"/>
                  <a:t>genuine physicochemical contrast between metals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8C5534E-A6B0-4718-A59A-37B3E5728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829" y="4509422"/>
                <a:ext cx="5600123" cy="1077218"/>
              </a:xfrm>
              <a:prstGeom prst="rect">
                <a:avLst/>
              </a:prstGeom>
              <a:blipFill>
                <a:blip r:embed="rId3"/>
                <a:stretch>
                  <a:fillRect l="-435" t="-1705" b="-6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257AF742-A959-46AF-A44D-A8A630B9E13F}"/>
              </a:ext>
            </a:extLst>
          </p:cNvPr>
          <p:cNvSpPr txBox="1"/>
          <p:nvPr/>
        </p:nvSpPr>
        <p:spPr>
          <a:xfrm>
            <a:off x="1205257" y="1442125"/>
            <a:ext cx="3730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latin typeface="Consolas" panose="020B0609020204030204" pitchFamily="49" charset="0"/>
              </a:rPr>
              <a:t>Best single feature accuracy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3E704C-0C8E-4ECD-8C8A-A028F7F7790B}"/>
              </a:ext>
            </a:extLst>
          </p:cNvPr>
          <p:cNvSpPr txBox="1"/>
          <p:nvPr/>
        </p:nvSpPr>
        <p:spPr>
          <a:xfrm>
            <a:off x="6846938" y="1979246"/>
            <a:ext cx="4237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latin typeface="Consolas" panose="020B0609020204030204" pitchFamily="49" charset="0"/>
              </a:rPr>
              <a:t>Between-class feature separation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4A8389-EE0D-4A07-BC94-72B598A44DA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207" b="16179"/>
          <a:stretch/>
        </p:blipFill>
        <p:spPr>
          <a:xfrm>
            <a:off x="361048" y="2057936"/>
            <a:ext cx="5734952" cy="2888228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3032D9-3C8F-482C-8082-890BB29DC8A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4990" b="21861"/>
          <a:stretch/>
        </p:blipFill>
        <p:spPr>
          <a:xfrm>
            <a:off x="6348396" y="2536483"/>
            <a:ext cx="5234142" cy="1785034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73088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183DA95-28C8-6A4A-ABAF-B2F56A0C799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925158"/>
          </a:xfrm>
          <a:prstGeom prst="rect">
            <a:avLst/>
          </a:prstGeom>
          <a:solidFill>
            <a:srgbClr val="295572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 Next step: thesis</a:t>
            </a:r>
            <a:endParaRPr lang="en-TH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7" name="Table 2">
            <a:extLst>
              <a:ext uri="{FF2B5EF4-FFF2-40B4-BE49-F238E27FC236}">
                <a16:creationId xmlns:a16="http://schemas.microsoft.com/office/drawing/2014/main" id="{708D0026-51AE-3E47-AD77-FF8883163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977013"/>
              </p:ext>
            </p:extLst>
          </p:nvPr>
        </p:nvGraphicFramePr>
        <p:xfrm>
          <a:off x="369136" y="1169966"/>
          <a:ext cx="6241213" cy="2897211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887179">
                  <a:extLst>
                    <a:ext uri="{9D8B030D-6E8A-4147-A177-3AD203B41FA5}">
                      <a16:colId xmlns:a16="http://schemas.microsoft.com/office/drawing/2014/main" val="1541226483"/>
                    </a:ext>
                  </a:extLst>
                </a:gridCol>
                <a:gridCol w="3354034">
                  <a:extLst>
                    <a:ext uri="{9D8B030D-6E8A-4147-A177-3AD203B41FA5}">
                      <a16:colId xmlns:a16="http://schemas.microsoft.com/office/drawing/2014/main" val="2492138256"/>
                    </a:ext>
                  </a:extLst>
                </a:gridCol>
              </a:tblGrid>
              <a:tr h="517192"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Factor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/>
                        <a:t>Levels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829419145"/>
                  </a:ext>
                </a:extLst>
              </a:tr>
              <a:tr h="366157"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Heavy metal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As, Cr(3+ and 6+), Cd</a:t>
                      </a:r>
                      <a:r>
                        <a:rPr lang="en-GB" sz="1800" dirty="0"/>
                        <a:t>, Co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805119729"/>
                  </a:ext>
                </a:extLst>
              </a:tr>
              <a:tr h="640774"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Heavy metal concentration </a:t>
                      </a:r>
                    </a:p>
                    <a:p>
                      <a:pPr algn="l"/>
                      <a:r>
                        <a:rPr lang="en-GB" sz="1800" dirty="0"/>
                        <a:t>(ppb)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0, 1, 10, 100 (As, Co)</a:t>
                      </a:r>
                    </a:p>
                    <a:p>
                      <a:pPr algn="l"/>
                      <a:r>
                        <a:rPr lang="en-GB" sz="1800" dirty="0"/>
                        <a:t>0, 5, 50, 500 (Cr, Cd)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047181200"/>
                  </a:ext>
                </a:extLst>
              </a:tr>
              <a:tr h="366157"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Reagent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chemeClr val="tx1"/>
                          </a:solidFill>
                        </a:rPr>
                        <a:t>Chitosan, Alginate, Tannin</a:t>
                      </a:r>
                      <a:endParaRPr lang="en-GB" sz="1800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602016150"/>
                  </a:ext>
                </a:extLst>
              </a:tr>
              <a:tr h="366157"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Reagent concentration (ppb)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0, 1, 100, 10000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733330906"/>
                  </a:ext>
                </a:extLst>
              </a:tr>
              <a:tr h="640774"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Conditions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DI, 0.1 M PBS, </a:t>
                      </a:r>
                      <a:r>
                        <a:rPr lang="en-GB" sz="1800" dirty="0" err="1"/>
                        <a:t>Chaopraya</a:t>
                      </a:r>
                      <a:r>
                        <a:rPr lang="en-GB" sz="1800" dirty="0"/>
                        <a:t> river sample, </a:t>
                      </a:r>
                      <a:r>
                        <a:rPr lang="en-GB" sz="1800" dirty="0" err="1"/>
                        <a:t>Hyeongsan</a:t>
                      </a:r>
                      <a:r>
                        <a:rPr lang="en-GB" sz="1800" dirty="0"/>
                        <a:t> river sample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192535581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98809F3-827E-40F0-A2C8-7B49358294AA}"/>
              </a:ext>
            </a:extLst>
          </p:cNvPr>
          <p:cNvSpPr txBox="1"/>
          <p:nvPr/>
        </p:nvSpPr>
        <p:spPr>
          <a:xfrm>
            <a:off x="11673430" y="6581001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TH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13</a:t>
            </a:r>
            <a:endParaRPr lang="en-TH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D3FD4D-B5FF-46D3-8950-0D307D81650E}"/>
              </a:ext>
            </a:extLst>
          </p:cNvPr>
          <p:cNvSpPr txBox="1"/>
          <p:nvPr/>
        </p:nvSpPr>
        <p:spPr>
          <a:xfrm>
            <a:off x="11582538" y="6576563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r>
              <a:rPr lang="en-TH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endParaRPr lang="en-TH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0" name="Table 2">
            <a:extLst>
              <a:ext uri="{FF2B5EF4-FFF2-40B4-BE49-F238E27FC236}">
                <a16:creationId xmlns:a16="http://schemas.microsoft.com/office/drawing/2014/main" id="{8233A035-748B-41EB-89C6-F8B535E8B8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9295"/>
              </p:ext>
            </p:extLst>
          </p:nvPr>
        </p:nvGraphicFramePr>
        <p:xfrm>
          <a:off x="6813026" y="1149307"/>
          <a:ext cx="5074241" cy="291787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54624">
                  <a:extLst>
                    <a:ext uri="{9D8B030D-6E8A-4147-A177-3AD203B41FA5}">
                      <a16:colId xmlns:a16="http://schemas.microsoft.com/office/drawing/2014/main" val="4199690174"/>
                    </a:ext>
                  </a:extLst>
                </a:gridCol>
                <a:gridCol w="605804">
                  <a:extLst>
                    <a:ext uri="{9D8B030D-6E8A-4147-A177-3AD203B41FA5}">
                      <a16:colId xmlns:a16="http://schemas.microsoft.com/office/drawing/2014/main" val="3539903186"/>
                    </a:ext>
                  </a:extLst>
                </a:gridCol>
                <a:gridCol w="827008">
                  <a:extLst>
                    <a:ext uri="{9D8B030D-6E8A-4147-A177-3AD203B41FA5}">
                      <a16:colId xmlns:a16="http://schemas.microsoft.com/office/drawing/2014/main" val="4269956457"/>
                    </a:ext>
                  </a:extLst>
                </a:gridCol>
                <a:gridCol w="827008">
                  <a:extLst>
                    <a:ext uri="{9D8B030D-6E8A-4147-A177-3AD203B41FA5}">
                      <a16:colId xmlns:a16="http://schemas.microsoft.com/office/drawing/2014/main" val="1330678615"/>
                    </a:ext>
                  </a:extLst>
                </a:gridCol>
                <a:gridCol w="827008">
                  <a:extLst>
                    <a:ext uri="{9D8B030D-6E8A-4147-A177-3AD203B41FA5}">
                      <a16:colId xmlns:a16="http://schemas.microsoft.com/office/drawing/2014/main" val="2502523190"/>
                    </a:ext>
                  </a:extLst>
                </a:gridCol>
                <a:gridCol w="932789">
                  <a:extLst>
                    <a:ext uri="{9D8B030D-6E8A-4147-A177-3AD203B41FA5}">
                      <a16:colId xmlns:a16="http://schemas.microsoft.com/office/drawing/2014/main" val="14694379"/>
                    </a:ext>
                  </a:extLst>
                </a:gridCol>
              </a:tblGrid>
              <a:tr h="729468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Cr3+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Cr6+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Cd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Co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628432940"/>
                  </a:ext>
                </a:extLst>
              </a:tr>
              <a:tr h="729468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Chitosan</a:t>
                      </a:r>
                      <a:br>
                        <a:rPr lang="en-GB" dirty="0"/>
                      </a:br>
                      <a:r>
                        <a:rPr lang="en-GB" sz="1200" dirty="0"/>
                        <a:t>(4 conditions)</a:t>
                      </a:r>
                      <a:endParaRPr lang="en-GB" dirty="0"/>
                    </a:p>
                  </a:txBody>
                  <a:tcPr/>
                </a:tc>
                <a:tc rowSpan="3" gridSpan="5"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960 combinations</a:t>
                      </a:r>
                    </a:p>
                    <a:p>
                      <a:pPr algn="ctr"/>
                      <a:r>
                        <a:rPr lang="en-GB" sz="1600" dirty="0"/>
                        <a:t>8 measurement per combination</a:t>
                      </a:r>
                    </a:p>
                    <a:p>
                      <a:pPr algn="ctr"/>
                      <a:r>
                        <a:rPr lang="en-GB" sz="1800" b="1" dirty="0"/>
                        <a:t>7,680 measurements in total</a:t>
                      </a:r>
                    </a:p>
                  </a:txBody>
                  <a:tcPr anchor="ctr"/>
                </a:tc>
                <a:tc rowSpan="3"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4231733"/>
                  </a:ext>
                </a:extLst>
              </a:tr>
              <a:tr h="729468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Alginate</a:t>
                      </a:r>
                    </a:p>
                    <a:p>
                      <a:pPr algn="ctr"/>
                      <a:r>
                        <a:rPr lang="en-GB" sz="1200" dirty="0"/>
                        <a:t>(4 conditions)</a:t>
                      </a:r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978510"/>
                  </a:ext>
                </a:extLst>
              </a:tr>
              <a:tr h="729468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Tannin</a:t>
                      </a:r>
                    </a:p>
                    <a:p>
                      <a:pPr algn="ctr"/>
                      <a:r>
                        <a:rPr lang="en-GB" sz="1200" dirty="0"/>
                        <a:t>(4 conditions)</a:t>
                      </a:r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pPr algn="ctr"/>
                      <a:endParaRPr lang="en-GB" sz="1800" b="1" dirty="0"/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25221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5F21DE4-3AC9-4641-B0FF-FC2789F72852}"/>
              </a:ext>
            </a:extLst>
          </p:cNvPr>
          <p:cNvSpPr txBox="1"/>
          <p:nvPr/>
        </p:nvSpPr>
        <p:spPr>
          <a:xfrm>
            <a:off x="6727004" y="4166382"/>
            <a:ext cx="51602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Current available salsa data from previous experiment</a:t>
            </a:r>
            <a:br>
              <a:rPr lang="en-GB" sz="1600" dirty="0"/>
            </a:br>
            <a:r>
              <a:rPr lang="en-GB" sz="1600" dirty="0"/>
              <a:t>=&gt; </a:t>
            </a:r>
            <a:r>
              <a:rPr lang="en-GB" sz="1600" b="1" dirty="0"/>
              <a:t>224 combinations (23.33%)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rgbClr val="27536C"/>
                </a:solidFill>
              </a:rPr>
              <a:t>Complete all salsa data collection within December</a:t>
            </a:r>
          </a:p>
        </p:txBody>
      </p:sp>
    </p:spTree>
    <p:extLst>
      <p:ext uri="{BB962C8B-B14F-4D97-AF65-F5344CB8AC3E}">
        <p14:creationId xmlns:p14="http://schemas.microsoft.com/office/powerpoint/2010/main" val="14181061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EDF0-895A-334B-BC03-F46D52F696DA}"/>
              </a:ext>
            </a:extLst>
          </p:cNvPr>
          <p:cNvSpPr txBox="1">
            <a:spLocks/>
          </p:cNvSpPr>
          <p:nvPr/>
        </p:nvSpPr>
        <p:spPr>
          <a:xfrm>
            <a:off x="2209800" y="3016766"/>
            <a:ext cx="7772400" cy="82446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TH" sz="4000" b="1" dirty="0">
                <a:latin typeface="Consolas" panose="020B0609020204030204" pitchFamily="49" charset="0"/>
              </a:rPr>
              <a:t>T</a:t>
            </a:r>
            <a:r>
              <a:rPr lang="en-US" sz="4000" b="1" dirty="0">
                <a:latin typeface="Consolas" panose="020B0609020204030204" pitchFamily="49" charset="0"/>
              </a:rPr>
              <a:t>h</a:t>
            </a:r>
            <a:r>
              <a:rPr lang="en-TH" sz="4000" b="1" dirty="0">
                <a:latin typeface="Consolas" panose="020B0609020204030204" pitchFamily="49" charset="0"/>
              </a:rPr>
              <a:t>ank you</a:t>
            </a:r>
            <a:endParaRPr lang="en-GB" sz="4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097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2307</TotalTime>
  <Words>1788</Words>
  <Application>Microsoft Office PowerPoint</Application>
  <PresentationFormat>Widescreen</PresentationFormat>
  <Paragraphs>727</Paragraphs>
  <Slides>24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Consolas</vt:lpstr>
      <vt:lpstr>Office Theme</vt:lpstr>
      <vt:lpstr>Paper Microfluidic Detection of Heavy Metal Using Biopolymers</vt:lpstr>
      <vt:lpstr>PowerPoint Presentation</vt:lpstr>
      <vt:lpstr> Introduction: Literature review</vt:lpstr>
      <vt:lpstr> Introduction: Motivation</vt:lpstr>
      <vt:lpstr> Introduction: Motivation</vt:lpstr>
      <vt:lpstr> Experiment I</vt:lpstr>
      <vt:lpstr>PowerPoint Presentation</vt:lpstr>
      <vt:lpstr>PowerPoint Presentation</vt:lpstr>
      <vt:lpstr>PowerPoint Presentation</vt:lpstr>
      <vt:lpstr>PowerPoint Presentation</vt:lpstr>
      <vt:lpstr> Experiment 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Microfluidic Detection of Heavy Metal Using Biopolymers</dc:title>
  <dc:creator>AREEKULWIMONMAS(환경공학부)</dc:creator>
  <cp:lastModifiedBy>AREEKULWIMONMAS(환경공학부)</cp:lastModifiedBy>
  <cp:revision>92</cp:revision>
  <dcterms:created xsi:type="dcterms:W3CDTF">2026-03-31T02:07:38Z</dcterms:created>
  <dcterms:modified xsi:type="dcterms:W3CDTF">2026-09-02T10:10:12Z</dcterms:modified>
</cp:coreProperties>
</file>